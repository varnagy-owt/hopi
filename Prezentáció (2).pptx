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79" r:id="rId12"/>
    <p:sldId id="266" r:id="rId13"/>
    <p:sldId id="267" r:id="rId14"/>
    <p:sldId id="268" r:id="rId15"/>
    <p:sldId id="269" r:id="rId16"/>
    <p:sldId id="280" r:id="rId17"/>
    <p:sldId id="270" r:id="rId18"/>
    <p:sldId id="271" r:id="rId19"/>
    <p:sldId id="281" r:id="rId20"/>
    <p:sldId id="272" r:id="rId21"/>
    <p:sldId id="282" r:id="rId22"/>
    <p:sldId id="273" r:id="rId23"/>
    <p:sldId id="274" r:id="rId24"/>
    <p:sldId id="275" r:id="rId25"/>
    <p:sldId id="276" r:id="rId26"/>
    <p:sldId id="277" r:id="rId27"/>
    <p:sldId id="278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 smtClean="0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C50F0-9571-4ED1-B22D-A20C0BA8E61B}" type="datetimeFigureOut">
              <a:rPr lang="hu-HU" smtClean="0"/>
              <a:t>2026. 04. 29.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3C814715-A8A9-4CAB-917C-4703AA3D0EA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11167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C50F0-9571-4ED1-B22D-A20C0BA8E61B}" type="datetimeFigureOut">
              <a:rPr lang="hu-HU" smtClean="0"/>
              <a:t>2026. 04. 29.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14715-A8A9-4CAB-917C-4703AA3D0EA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33883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C50F0-9571-4ED1-B22D-A20C0BA8E61B}" type="datetimeFigureOut">
              <a:rPr lang="hu-HU" smtClean="0"/>
              <a:t>2026. 04. 29.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3C814715-A8A9-4CAB-917C-4703AA3D0EA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50789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C50F0-9571-4ED1-B22D-A20C0BA8E61B}" type="datetimeFigureOut">
              <a:rPr lang="hu-HU" smtClean="0"/>
              <a:t>2026. 04. 29.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14715-A8A9-4CAB-917C-4703AA3D0EA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03563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C50F0-9571-4ED1-B22D-A20C0BA8E61B}" type="datetimeFigureOut">
              <a:rPr lang="hu-HU" smtClean="0"/>
              <a:t>2026. 04. 29.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14715-A8A9-4CAB-917C-4703AA3D0EA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79986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C50F0-9571-4ED1-B22D-A20C0BA8E61B}" type="datetimeFigureOut">
              <a:rPr lang="hu-HU" smtClean="0"/>
              <a:t>2026. 04. 29.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14715-A8A9-4CAB-917C-4703AA3D0EA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96367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C50F0-9571-4ED1-B22D-A20C0BA8E61B}" type="datetimeFigureOut">
              <a:rPr lang="hu-HU" smtClean="0"/>
              <a:t>2026. 04. 29.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14715-A8A9-4CAB-917C-4703AA3D0EA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96065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C50F0-9571-4ED1-B22D-A20C0BA8E61B}" type="datetimeFigureOut">
              <a:rPr lang="hu-HU" smtClean="0"/>
              <a:t>2026. 04. 29.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14715-A8A9-4CAB-917C-4703AA3D0EA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04719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C50F0-9571-4ED1-B22D-A20C0BA8E61B}" type="datetimeFigureOut">
              <a:rPr lang="hu-HU" smtClean="0"/>
              <a:t>2026. 04. 29.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14715-A8A9-4CAB-917C-4703AA3D0EA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08079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C50F0-9571-4ED1-B22D-A20C0BA8E61B}" type="datetimeFigureOut">
              <a:rPr lang="hu-HU" smtClean="0"/>
              <a:t>2026. 04. 29.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3C814715-A8A9-4CAB-917C-4703AA3D0EA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94097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C50F0-9571-4ED1-B22D-A20C0BA8E61B}" type="datetimeFigureOut">
              <a:rPr lang="hu-HU" smtClean="0"/>
              <a:t>2026. 04. 29.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3C814715-A8A9-4CAB-917C-4703AA3D0EA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631379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C50F0-9571-4ED1-B22D-A20C0BA8E61B}" type="datetimeFigureOut">
              <a:rPr lang="hu-HU" smtClean="0"/>
              <a:t>2026. 04. 29.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3C814715-A8A9-4CAB-917C-4703AA3D0EA4}" type="slidenum">
              <a:rPr lang="hu-HU" smtClean="0"/>
              <a:t>‹#›</a:t>
            </a:fld>
            <a:endParaRPr lang="hu-HU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807133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C50F0-9571-4ED1-B22D-A20C0BA8E61B}" type="datetimeFigureOut">
              <a:rPr lang="hu-HU" smtClean="0"/>
              <a:t>2026. 04. 29.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3C814715-A8A9-4CAB-917C-4703AA3D0EA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863122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C50F0-9571-4ED1-B22D-A20C0BA8E61B}" type="datetimeFigureOut">
              <a:rPr lang="hu-HU" smtClean="0"/>
              <a:t>2026. 04. 29.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14715-A8A9-4CAB-917C-4703AA3D0EA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11636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C50F0-9571-4ED1-B22D-A20C0BA8E61B}" type="datetimeFigureOut">
              <a:rPr lang="hu-HU" smtClean="0"/>
              <a:t>2026. 04. 29.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14715-A8A9-4CAB-917C-4703AA3D0EA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041744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C50F0-9571-4ED1-B22D-A20C0BA8E61B}" type="datetimeFigureOut">
              <a:rPr lang="hu-HU" smtClean="0"/>
              <a:t>2026. 04. 29.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14715-A8A9-4CAB-917C-4703AA3D0EA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396867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91BC50F0-9571-4ED1-B22D-A20C0BA8E61B}" type="datetimeFigureOut">
              <a:rPr lang="hu-HU" smtClean="0"/>
              <a:t>2026. 04. 29.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3C814715-A8A9-4CAB-917C-4703AA3D0EA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91685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BC50F0-9571-4ED1-B22D-A20C0BA8E61B}" type="datetimeFigureOut">
              <a:rPr lang="hu-HU" smtClean="0"/>
              <a:t>2026. 04. 29.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814715-A8A9-4CAB-917C-4703AA3D0EA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378277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smtClean="0"/>
              <a:t>Prezentáció</a:t>
            </a:r>
            <a:endParaRPr lang="hu-HU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smtClean="0"/>
              <a:t>Koncz Vince</a:t>
            </a:r>
            <a:br>
              <a:rPr lang="hu-HU" dirty="0" smtClean="0"/>
            </a:br>
            <a:r>
              <a:rPr lang="hu-HU" dirty="0" smtClean="0"/>
              <a:t>Várnagy Tibor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995666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Hálózati struktúra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21" y="2233094"/>
            <a:ext cx="10590528" cy="424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710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Hálózati struktúra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80321" y="2202649"/>
            <a:ext cx="9613861" cy="3599316"/>
          </a:xfrm>
        </p:spPr>
        <p:txBody>
          <a:bodyPr/>
          <a:lstStyle/>
          <a:p>
            <a:pPr marL="0" indent="0">
              <a:buNone/>
            </a:pPr>
            <a:r>
              <a:rPr lang="hu-HU" dirty="0" smtClean="0"/>
              <a:t>Hálózatunk tartalmaz:</a:t>
            </a:r>
          </a:p>
          <a:p>
            <a:r>
              <a:rPr lang="hu-HU" dirty="0"/>
              <a:t>6</a:t>
            </a:r>
            <a:r>
              <a:rPr lang="hu-HU" dirty="0" smtClean="0"/>
              <a:t> belső (LAN) hálózatot</a:t>
            </a:r>
          </a:p>
          <a:p>
            <a:pPr lvl="1"/>
            <a:r>
              <a:rPr lang="hu-HU" dirty="0" smtClean="0"/>
              <a:t>1 ASA (Tűzfal rendszer)</a:t>
            </a:r>
          </a:p>
          <a:p>
            <a:pPr lvl="1"/>
            <a:r>
              <a:rPr lang="hu-HU" dirty="0" smtClean="0"/>
              <a:t>1 Internet hálózat</a:t>
            </a:r>
          </a:p>
          <a:p>
            <a:pPr lvl="1"/>
            <a:r>
              <a:rPr lang="hu-HU" dirty="0" smtClean="0"/>
              <a:t>1 VLAN közeg</a:t>
            </a:r>
          </a:p>
          <a:p>
            <a:pPr lvl="1"/>
            <a:r>
              <a:rPr lang="hu-HU" dirty="0" smtClean="0"/>
              <a:t>2 WIFI hálózatot</a:t>
            </a:r>
          </a:p>
          <a:p>
            <a:pPr lvl="1"/>
            <a:r>
              <a:rPr lang="hu-HU" dirty="0" smtClean="0"/>
              <a:t>1 VPN hálózat</a:t>
            </a:r>
          </a:p>
          <a:p>
            <a:r>
              <a:rPr lang="hu-HU" dirty="0" smtClean="0"/>
              <a:t>1 nagy WAN közeget</a:t>
            </a:r>
          </a:p>
          <a:p>
            <a:pPr lvl="1"/>
            <a:r>
              <a:rPr lang="hu-HU" dirty="0" smtClean="0"/>
              <a:t>7 különböző WAN hálózat</a:t>
            </a:r>
          </a:p>
          <a:p>
            <a:pPr lvl="1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659134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IPv4 Címek</a:t>
            </a:r>
            <a:endParaRPr lang="hu-HU" dirty="0"/>
          </a:p>
        </p:txBody>
      </p:sp>
      <p:graphicFrame>
        <p:nvGraphicFramePr>
          <p:cNvPr id="6" name="Tartalom helye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2352379"/>
              </p:ext>
            </p:extLst>
          </p:nvPr>
        </p:nvGraphicFramePr>
        <p:xfrm>
          <a:off x="0" y="1938697"/>
          <a:ext cx="12192000" cy="49193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36981163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86086145"/>
                    </a:ext>
                  </a:extLst>
                </a:gridCol>
                <a:gridCol w="1170730">
                  <a:extLst>
                    <a:ext uri="{9D8B030D-6E8A-4147-A177-3AD203B41FA5}">
                      <a16:colId xmlns:a16="http://schemas.microsoft.com/office/drawing/2014/main" val="2423343088"/>
                    </a:ext>
                  </a:extLst>
                </a:gridCol>
                <a:gridCol w="2893270">
                  <a:extLst>
                    <a:ext uri="{9D8B030D-6E8A-4147-A177-3AD203B41FA5}">
                      <a16:colId xmlns:a16="http://schemas.microsoft.com/office/drawing/2014/main" val="185007349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7128229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24015283"/>
                    </a:ext>
                  </a:extLst>
                </a:gridCol>
              </a:tblGrid>
              <a:tr h="96492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Hálózat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Eszköz</a:t>
                      </a:r>
                      <a:r>
                        <a:rPr lang="hu-HU" baseline="0" dirty="0" smtClean="0"/>
                        <a:t> Típusa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Eszköz</a:t>
                      </a:r>
                      <a:r>
                        <a:rPr lang="hu-HU" baseline="0" dirty="0" smtClean="0"/>
                        <a:t> Neve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Hálózat</a:t>
                      </a:r>
                      <a:r>
                        <a:rPr lang="hu-HU" baseline="0" dirty="0" smtClean="0"/>
                        <a:t> Azonosító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Forgalomirányítás</a:t>
                      </a:r>
                      <a:r>
                        <a:rPr lang="hu-HU" baseline="0" dirty="0" smtClean="0"/>
                        <a:t> Típusa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Használt </a:t>
                      </a:r>
                      <a:r>
                        <a:rPr lang="hu-HU" dirty="0" err="1" smtClean="0"/>
                        <a:t>Protokolok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154839"/>
                  </a:ext>
                </a:extLst>
              </a:tr>
              <a:tr h="55904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VLAN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err="1" smtClean="0"/>
                        <a:t>Router</a:t>
                      </a:r>
                      <a:r>
                        <a:rPr lang="hu-HU" baseline="0" dirty="0" smtClean="0"/>
                        <a:t> (1941)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VlanR1</a:t>
                      </a:r>
                      <a:endParaRPr lang="hu-HU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Vlan10:10.0.10.0/24</a:t>
                      </a:r>
                      <a:br>
                        <a:rPr lang="hu-HU" dirty="0" smtClean="0"/>
                      </a:br>
                      <a:r>
                        <a:rPr lang="hu-HU" dirty="0" smtClean="0"/>
                        <a:t>Vlan20:10.0.20.0/24</a:t>
                      </a:r>
                      <a:br>
                        <a:rPr lang="hu-HU" dirty="0" smtClean="0"/>
                      </a:br>
                      <a:r>
                        <a:rPr lang="hu-HU" dirty="0" smtClean="0"/>
                        <a:t>Vlan30:10.0.30.0/24</a:t>
                      </a:r>
                      <a:br>
                        <a:rPr lang="hu-HU" dirty="0" smtClean="0"/>
                      </a:br>
                      <a:r>
                        <a:rPr lang="hu-HU" dirty="0" smtClean="0"/>
                        <a:t>Vlan40:10.0.40.0/24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EIGRP</a:t>
                      </a:r>
                    </a:p>
                    <a:p>
                      <a:pPr algn="ctr"/>
                      <a:r>
                        <a:rPr lang="hu-HU" dirty="0" err="1" smtClean="0"/>
                        <a:t>Router</a:t>
                      </a:r>
                      <a:r>
                        <a:rPr lang="hu-HU" dirty="0" smtClean="0"/>
                        <a:t>-ID: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PAT,</a:t>
                      </a:r>
                      <a:r>
                        <a:rPr lang="hu-HU" baseline="0" dirty="0" smtClean="0"/>
                        <a:t> LACP, HSRP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330682"/>
                  </a:ext>
                </a:extLst>
              </a:tr>
              <a:tr h="55904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VLAN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err="1" smtClean="0"/>
                        <a:t>Router</a:t>
                      </a:r>
                      <a:r>
                        <a:rPr lang="hu-HU" dirty="0" smtClean="0"/>
                        <a:t> (1941)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VlanR2</a:t>
                      </a:r>
                      <a:endParaRPr lang="hu-HU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EIGRP</a:t>
                      </a:r>
                    </a:p>
                    <a:p>
                      <a:pPr algn="ctr"/>
                      <a:r>
                        <a:rPr lang="hu-HU" dirty="0" err="1" smtClean="0"/>
                        <a:t>Router</a:t>
                      </a:r>
                      <a:r>
                        <a:rPr lang="hu-HU" dirty="0" smtClean="0"/>
                        <a:t>-ID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PAT, LACP,</a:t>
                      </a:r>
                      <a:r>
                        <a:rPr lang="hu-HU" baseline="0" dirty="0" smtClean="0"/>
                        <a:t> HSRP</a:t>
                      </a:r>
                    </a:p>
                    <a:p>
                      <a:pPr algn="ctr"/>
                      <a:r>
                        <a:rPr lang="hu-HU" baseline="0" dirty="0" smtClean="0"/>
                        <a:t>Dial-up VPN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840264"/>
                  </a:ext>
                </a:extLst>
              </a:tr>
              <a:tr h="388223">
                <a:tc>
                  <a:txBody>
                    <a:bodyPr/>
                    <a:lstStyle/>
                    <a:p>
                      <a:pPr algn="ctr"/>
                      <a:r>
                        <a:rPr lang="hu-HU" dirty="0" err="1" smtClean="0"/>
                        <a:t>Wifi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WRT300N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WR1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LAN:192.168.50.0/24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-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727963"/>
                  </a:ext>
                </a:extLst>
              </a:tr>
              <a:tr h="352338">
                <a:tc>
                  <a:txBody>
                    <a:bodyPr/>
                    <a:lstStyle/>
                    <a:p>
                      <a:pPr algn="ctr"/>
                      <a:r>
                        <a:rPr lang="hu-HU" dirty="0" err="1" smtClean="0"/>
                        <a:t>Wifi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WRT300N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WR2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LAN:192.168.100.0/24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PAT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5126312"/>
                  </a:ext>
                </a:extLst>
              </a:tr>
              <a:tr h="389249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VPN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err="1" smtClean="0"/>
                        <a:t>Router</a:t>
                      </a:r>
                      <a:r>
                        <a:rPr lang="hu-HU" dirty="0" smtClean="0"/>
                        <a:t> (1941)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VPN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LAN:192.168.10.0/24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EIGRP:</a:t>
                      </a:r>
                      <a:br>
                        <a:rPr lang="hu-HU" dirty="0" smtClean="0"/>
                      </a:br>
                      <a:r>
                        <a:rPr lang="hu-HU" dirty="0" err="1" smtClean="0"/>
                        <a:t>Router</a:t>
                      </a:r>
                      <a:r>
                        <a:rPr lang="hu-HU" dirty="0" smtClean="0"/>
                        <a:t>-ID: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PAT, Dial-up</a:t>
                      </a:r>
                      <a:r>
                        <a:rPr lang="hu-HU" baseline="0" dirty="0" smtClean="0"/>
                        <a:t> VPN(</a:t>
                      </a:r>
                      <a:r>
                        <a:rPr lang="hu-HU" baseline="0" dirty="0" err="1" smtClean="0"/>
                        <a:t>user</a:t>
                      </a:r>
                      <a:r>
                        <a:rPr lang="hu-HU" baseline="0" dirty="0" smtClean="0"/>
                        <a:t>)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3659723"/>
                  </a:ext>
                </a:extLst>
              </a:tr>
              <a:tr h="352338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Tűzfal</a:t>
                      </a:r>
                      <a:r>
                        <a:rPr lang="hu-HU" baseline="0" dirty="0" smtClean="0"/>
                        <a:t> Közeg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ASA</a:t>
                      </a:r>
                      <a:r>
                        <a:rPr lang="hu-HU" baseline="0" dirty="0" smtClean="0"/>
                        <a:t> (5506-X)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ASA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ADMIN:172.16.0.128/25</a:t>
                      </a:r>
                    </a:p>
                    <a:p>
                      <a:pPr algn="ctr"/>
                      <a:r>
                        <a:rPr lang="hu-HU" dirty="0" smtClean="0"/>
                        <a:t>INSIDE:172.16.0.0/25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Statikus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PAT/NAT, SSH, ACL,</a:t>
                      </a:r>
                      <a:r>
                        <a:rPr lang="hu-HU" baseline="0" dirty="0" smtClean="0"/>
                        <a:t> </a:t>
                      </a:r>
                      <a:r>
                        <a:rPr lang="hu-HU" baseline="0" dirty="0" err="1" smtClean="0"/>
                        <a:t>DHCPd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48079"/>
                  </a:ext>
                </a:extLst>
              </a:tr>
              <a:tr h="55904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Internet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err="1" smtClean="0"/>
                        <a:t>Router</a:t>
                      </a:r>
                      <a:r>
                        <a:rPr lang="hu-HU" dirty="0" smtClean="0"/>
                        <a:t> (1941)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IR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LAN:192.168.0.0/24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EIGRP:</a:t>
                      </a:r>
                    </a:p>
                    <a:p>
                      <a:pPr algn="ctr"/>
                      <a:r>
                        <a:rPr lang="hu-HU" dirty="0" err="1" smtClean="0"/>
                        <a:t>Router</a:t>
                      </a:r>
                      <a:r>
                        <a:rPr lang="hu-HU" dirty="0" smtClean="0"/>
                        <a:t>-ID: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NAT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0554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9323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IPv4 Címek (WAN kapcsolatok)</a:t>
            </a:r>
            <a:endParaRPr lang="hu-HU" dirty="0"/>
          </a:p>
        </p:txBody>
      </p:sp>
      <p:graphicFrame>
        <p:nvGraphicFramePr>
          <p:cNvPr id="4" name="Tartalom helye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1244570"/>
              </p:ext>
            </p:extLst>
          </p:nvPr>
        </p:nvGraphicFramePr>
        <p:xfrm>
          <a:off x="0" y="1984463"/>
          <a:ext cx="12192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82766455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024711527"/>
                    </a:ext>
                  </a:extLst>
                </a:gridCol>
                <a:gridCol w="1799905">
                  <a:extLst>
                    <a:ext uri="{9D8B030D-6E8A-4147-A177-3AD203B41FA5}">
                      <a16:colId xmlns:a16="http://schemas.microsoft.com/office/drawing/2014/main" val="2487696007"/>
                    </a:ext>
                  </a:extLst>
                </a:gridCol>
                <a:gridCol w="2952924">
                  <a:extLst>
                    <a:ext uri="{9D8B030D-6E8A-4147-A177-3AD203B41FA5}">
                      <a16:colId xmlns:a16="http://schemas.microsoft.com/office/drawing/2014/main" val="1017683048"/>
                    </a:ext>
                  </a:extLst>
                </a:gridCol>
                <a:gridCol w="1343171">
                  <a:extLst>
                    <a:ext uri="{9D8B030D-6E8A-4147-A177-3AD203B41FA5}">
                      <a16:colId xmlns:a16="http://schemas.microsoft.com/office/drawing/2014/main" val="1493681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27190341"/>
                    </a:ext>
                  </a:extLst>
                </a:gridCol>
              </a:tblGrid>
              <a:tr h="74196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Kapcsolatba</a:t>
                      </a:r>
                      <a:r>
                        <a:rPr lang="hu-HU" baseline="0" dirty="0" smtClean="0"/>
                        <a:t> Tartozó E</a:t>
                      </a:r>
                      <a:r>
                        <a:rPr lang="hu-HU" dirty="0" smtClean="0"/>
                        <a:t>szközök Nevei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dirty="0" smtClean="0"/>
                        <a:t>Eszközök</a:t>
                      </a:r>
                      <a:r>
                        <a:rPr lang="hu-HU" baseline="0" dirty="0" smtClean="0"/>
                        <a:t> Típusai</a:t>
                      </a:r>
                      <a:endParaRPr lang="hu-HU" dirty="0" smtClean="0"/>
                    </a:p>
                    <a:p>
                      <a:pPr algn="ctr"/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dirty="0" smtClean="0"/>
                        <a:t>Hálózat</a:t>
                      </a:r>
                      <a:r>
                        <a:rPr lang="hu-HU" baseline="0" dirty="0" smtClean="0"/>
                        <a:t> azonosító</a:t>
                      </a:r>
                      <a:endParaRPr lang="hu-HU" dirty="0" smtClean="0"/>
                    </a:p>
                    <a:p>
                      <a:pPr algn="ctr"/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dirty="0" smtClean="0"/>
                        <a:t>Portok és pontos címek</a:t>
                      </a:r>
                    </a:p>
                    <a:p>
                      <a:pPr algn="ctr"/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dirty="0" smtClean="0"/>
                        <a:t>Forgalomirányítások</a:t>
                      </a:r>
                      <a:r>
                        <a:rPr lang="hu-HU" baseline="0" dirty="0" smtClean="0"/>
                        <a:t> Típusai</a:t>
                      </a:r>
                      <a:endParaRPr lang="hu-HU" dirty="0" smtClean="0"/>
                    </a:p>
                    <a:p>
                      <a:pPr algn="ctr"/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dirty="0" err="1" smtClean="0"/>
                        <a:t>Router-IDk</a:t>
                      </a:r>
                      <a:endParaRPr lang="hu-HU" dirty="0" smtClean="0"/>
                    </a:p>
                    <a:p>
                      <a:pPr algn="ctr"/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325326"/>
                  </a:ext>
                </a:extLst>
              </a:tr>
              <a:tr h="431567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IR</a:t>
                      </a:r>
                      <a:br>
                        <a:rPr lang="hu-HU" dirty="0" smtClean="0"/>
                      </a:br>
                      <a:r>
                        <a:rPr lang="hu-HU" dirty="0" smtClean="0"/>
                        <a:t>KR1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err="1" smtClean="0"/>
                        <a:t>Router</a:t>
                      </a:r>
                      <a:r>
                        <a:rPr lang="hu-HU" dirty="0" smtClean="0"/>
                        <a:t> (1941)</a:t>
                      </a:r>
                      <a:br>
                        <a:rPr lang="hu-HU" dirty="0" smtClean="0"/>
                      </a:br>
                      <a:r>
                        <a:rPr lang="hu-HU" dirty="0" err="1" smtClean="0"/>
                        <a:t>Router</a:t>
                      </a:r>
                      <a:r>
                        <a:rPr lang="hu-HU" dirty="0" smtClean="0"/>
                        <a:t> (1941)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8.8.4.0/28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S0/0/0,</a:t>
                      </a:r>
                      <a:r>
                        <a:rPr lang="hu-HU" baseline="0" dirty="0" smtClean="0"/>
                        <a:t> 8.8.4.1</a:t>
                      </a:r>
                      <a:endParaRPr lang="hu-HU" dirty="0" smtClean="0"/>
                    </a:p>
                    <a:p>
                      <a:pPr algn="ctr"/>
                      <a:r>
                        <a:rPr lang="hu-HU" dirty="0" smtClean="0"/>
                        <a:t>S0/0/0, 8.8.4.2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EIGPR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1.1.1.1</a:t>
                      </a:r>
                    </a:p>
                    <a:p>
                      <a:pPr algn="ctr"/>
                      <a:r>
                        <a:rPr lang="hu-HU" dirty="0" smtClean="0"/>
                        <a:t>2.2.2.2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3230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KR1</a:t>
                      </a:r>
                    </a:p>
                    <a:p>
                      <a:pPr algn="ctr"/>
                      <a:r>
                        <a:rPr lang="hu-HU" dirty="0" smtClean="0"/>
                        <a:t>ASA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err="1" smtClean="0"/>
                        <a:t>Router</a:t>
                      </a:r>
                      <a:r>
                        <a:rPr lang="hu-HU" dirty="0" smtClean="0"/>
                        <a:t> (1941)</a:t>
                      </a:r>
                    </a:p>
                    <a:p>
                      <a:pPr algn="ctr"/>
                      <a:r>
                        <a:rPr lang="hu-HU" dirty="0" smtClean="0"/>
                        <a:t>ASA (5506-X)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1.2.3.0/29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G0/0, 1.2.3.2</a:t>
                      </a:r>
                    </a:p>
                    <a:p>
                      <a:pPr algn="ctr"/>
                      <a:r>
                        <a:rPr lang="hu-HU" dirty="0" smtClean="0"/>
                        <a:t>G1/1, 1.2.3.1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EIGRP</a:t>
                      </a:r>
                    </a:p>
                    <a:p>
                      <a:pPr algn="ctr"/>
                      <a:r>
                        <a:rPr lang="hu-HU" dirty="0" smtClean="0"/>
                        <a:t>Statikus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2.2.2.2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134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KR1</a:t>
                      </a:r>
                    </a:p>
                    <a:p>
                      <a:pPr algn="ctr"/>
                      <a:r>
                        <a:rPr lang="hu-HU" dirty="0" smtClean="0"/>
                        <a:t>WifiR1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err="1" smtClean="0"/>
                        <a:t>Router</a:t>
                      </a:r>
                      <a:r>
                        <a:rPr lang="hu-HU" dirty="0" smtClean="0"/>
                        <a:t> (1941)</a:t>
                      </a:r>
                    </a:p>
                    <a:p>
                      <a:pPr algn="ctr"/>
                      <a:r>
                        <a:rPr lang="hu-HU" dirty="0" err="1" smtClean="0"/>
                        <a:t>Router</a:t>
                      </a:r>
                      <a:r>
                        <a:rPr lang="hu-HU" dirty="0" smtClean="0"/>
                        <a:t> (1941)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5.0.0.0/30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S0/1/0, 5.0.0.2</a:t>
                      </a:r>
                    </a:p>
                    <a:p>
                      <a:pPr algn="ctr"/>
                      <a:r>
                        <a:rPr lang="hu-HU" dirty="0" smtClean="0"/>
                        <a:t>S0/1/0, 5.0.0.1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EIGRP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2.2.2.2</a:t>
                      </a:r>
                    </a:p>
                    <a:p>
                      <a:pPr algn="ctr"/>
                      <a:r>
                        <a:rPr lang="hu-HU" dirty="0" smtClean="0"/>
                        <a:t>3.3.3.3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167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KR1</a:t>
                      </a:r>
                    </a:p>
                    <a:p>
                      <a:pPr algn="ctr"/>
                      <a:r>
                        <a:rPr lang="hu-HU" dirty="0" smtClean="0"/>
                        <a:t>KR2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err="1" smtClean="0"/>
                        <a:t>Router</a:t>
                      </a:r>
                      <a:r>
                        <a:rPr lang="hu-HU" dirty="0" smtClean="0"/>
                        <a:t> (1941)</a:t>
                      </a:r>
                    </a:p>
                    <a:p>
                      <a:pPr algn="ctr"/>
                      <a:r>
                        <a:rPr lang="hu-HU" dirty="0" err="1" smtClean="0"/>
                        <a:t>Router</a:t>
                      </a:r>
                      <a:r>
                        <a:rPr lang="hu-HU" dirty="0" smtClean="0"/>
                        <a:t> (1941)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5.5.5.0/30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S0/0/1, 5.5.5.2</a:t>
                      </a:r>
                    </a:p>
                    <a:p>
                      <a:pPr algn="ctr"/>
                      <a:r>
                        <a:rPr lang="hu-HU" dirty="0" smtClean="0"/>
                        <a:t>S0/0/1, 5.5.5.1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EIGRP</a:t>
                      </a:r>
                    </a:p>
                    <a:p>
                      <a:pPr algn="ctr"/>
                      <a:r>
                        <a:rPr lang="hu-HU" dirty="0" smtClean="0"/>
                        <a:t>EIGRP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2.2.2.2</a:t>
                      </a:r>
                    </a:p>
                    <a:p>
                      <a:pPr algn="ctr"/>
                      <a:r>
                        <a:rPr lang="hu-HU" dirty="0" smtClean="0"/>
                        <a:t>4.4.4.4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835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KR2</a:t>
                      </a:r>
                    </a:p>
                    <a:p>
                      <a:pPr algn="ctr"/>
                      <a:r>
                        <a:rPr lang="hu-HU" dirty="0" smtClean="0"/>
                        <a:t>VPN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err="1" smtClean="0"/>
                        <a:t>Router</a:t>
                      </a:r>
                      <a:r>
                        <a:rPr lang="hu-HU" dirty="0" smtClean="0"/>
                        <a:t> (1941)</a:t>
                      </a:r>
                    </a:p>
                    <a:p>
                      <a:pPr algn="ctr"/>
                      <a:r>
                        <a:rPr lang="hu-HU" dirty="0" err="1" smtClean="0"/>
                        <a:t>Router</a:t>
                      </a:r>
                      <a:r>
                        <a:rPr lang="hu-HU" dirty="0" smtClean="0"/>
                        <a:t> (1941)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175.65.41.0/30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S0/1/0, 175.65.41.1</a:t>
                      </a:r>
                      <a:endParaRPr lang="hu-HU" baseline="0" dirty="0" smtClean="0"/>
                    </a:p>
                    <a:p>
                      <a:pPr algn="ctr"/>
                      <a:r>
                        <a:rPr lang="hu-HU" baseline="0" dirty="0" smtClean="0"/>
                        <a:t>S0/0/0, 175.65.41.2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EIGRP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4.4.4.4</a:t>
                      </a:r>
                    </a:p>
                    <a:p>
                      <a:pPr algn="ctr"/>
                      <a:r>
                        <a:rPr lang="hu-HU" dirty="0" smtClean="0"/>
                        <a:t>5.5.5.5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9704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165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IPv4 Címek (WAN kapcsolatok)</a:t>
            </a:r>
          </a:p>
        </p:txBody>
      </p:sp>
      <p:graphicFrame>
        <p:nvGraphicFramePr>
          <p:cNvPr id="4" name="Tartalom helye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9721589"/>
              </p:ext>
            </p:extLst>
          </p:nvPr>
        </p:nvGraphicFramePr>
        <p:xfrm>
          <a:off x="2" y="1988190"/>
          <a:ext cx="1219200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29173603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0339514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546226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59480971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3107602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01285057"/>
                    </a:ext>
                  </a:extLst>
                </a:gridCol>
              </a:tblGrid>
              <a:tr h="7590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dirty="0" smtClean="0"/>
                        <a:t>Kapcsolatba</a:t>
                      </a:r>
                      <a:r>
                        <a:rPr lang="hu-HU" baseline="0" dirty="0" smtClean="0"/>
                        <a:t> Tartozó E</a:t>
                      </a:r>
                      <a:r>
                        <a:rPr lang="hu-HU" dirty="0" smtClean="0"/>
                        <a:t>szközök Nevei</a:t>
                      </a:r>
                    </a:p>
                    <a:p>
                      <a:pPr algn="ctr"/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dirty="0" smtClean="0"/>
                        <a:t>Eszközök</a:t>
                      </a:r>
                      <a:r>
                        <a:rPr lang="hu-HU" baseline="0" dirty="0" smtClean="0"/>
                        <a:t> Típusai</a:t>
                      </a:r>
                      <a:endParaRPr lang="hu-HU" dirty="0" smtClean="0"/>
                    </a:p>
                    <a:p>
                      <a:pPr algn="ctr"/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dirty="0" smtClean="0"/>
                        <a:t>Hálózat</a:t>
                      </a:r>
                      <a:r>
                        <a:rPr lang="hu-HU" baseline="0" dirty="0" smtClean="0"/>
                        <a:t> azonosító</a:t>
                      </a:r>
                      <a:endParaRPr lang="hu-HU" dirty="0" smtClean="0"/>
                    </a:p>
                    <a:p>
                      <a:pPr algn="ctr"/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dirty="0" smtClean="0"/>
                        <a:t>Portok és pontos címek</a:t>
                      </a:r>
                    </a:p>
                    <a:p>
                      <a:pPr algn="ctr"/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dirty="0" smtClean="0"/>
                        <a:t>Forgalomirányítások</a:t>
                      </a:r>
                      <a:r>
                        <a:rPr lang="hu-HU" baseline="0" dirty="0" smtClean="0"/>
                        <a:t> Típusai</a:t>
                      </a:r>
                      <a:endParaRPr lang="hu-HU" dirty="0" smtClean="0"/>
                    </a:p>
                    <a:p>
                      <a:pPr algn="ctr"/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err="1" smtClean="0"/>
                        <a:t>Router-IDk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680124"/>
                  </a:ext>
                </a:extLst>
              </a:tr>
              <a:tr h="23355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KR2</a:t>
                      </a:r>
                    </a:p>
                    <a:p>
                      <a:pPr algn="ctr"/>
                      <a:r>
                        <a:rPr lang="hu-HU" dirty="0" smtClean="0"/>
                        <a:t>VlanR1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err="1" smtClean="0"/>
                        <a:t>Router</a:t>
                      </a:r>
                      <a:r>
                        <a:rPr lang="hu-HU" dirty="0" smtClean="0"/>
                        <a:t> (1941)</a:t>
                      </a:r>
                    </a:p>
                    <a:p>
                      <a:pPr algn="ctr"/>
                      <a:r>
                        <a:rPr lang="hu-HU" dirty="0" err="1" smtClean="0"/>
                        <a:t>Router</a:t>
                      </a:r>
                      <a:r>
                        <a:rPr lang="hu-HU" dirty="0" smtClean="0"/>
                        <a:t> (1941)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1.1.1.0/30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S0/1/1, 1.1.1.1</a:t>
                      </a:r>
                    </a:p>
                    <a:p>
                      <a:pPr algn="ctr"/>
                      <a:r>
                        <a:rPr lang="hu-HU" dirty="0" smtClean="0"/>
                        <a:t>S0/1/1, 1.1.1.2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EIGRP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4.4.4.4</a:t>
                      </a:r>
                    </a:p>
                    <a:p>
                      <a:pPr algn="ctr"/>
                      <a:r>
                        <a:rPr lang="hu-HU" dirty="0" smtClean="0"/>
                        <a:t>7.7.7.7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843072"/>
                  </a:ext>
                </a:extLst>
              </a:tr>
              <a:tr h="23355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KR2</a:t>
                      </a:r>
                    </a:p>
                    <a:p>
                      <a:pPr algn="ctr"/>
                      <a:r>
                        <a:rPr lang="hu-HU" dirty="0" smtClean="0"/>
                        <a:t>VlanR2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err="1" smtClean="0"/>
                        <a:t>Router</a:t>
                      </a:r>
                      <a:r>
                        <a:rPr lang="hu-HU" dirty="0" smtClean="0"/>
                        <a:t> (1941)</a:t>
                      </a:r>
                    </a:p>
                    <a:p>
                      <a:pPr algn="ctr"/>
                      <a:r>
                        <a:rPr lang="hu-HU" dirty="0" err="1" smtClean="0"/>
                        <a:t>Router</a:t>
                      </a:r>
                      <a:r>
                        <a:rPr lang="hu-HU" dirty="0" smtClean="0"/>
                        <a:t> (1941)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1.1.1.4/30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S0/0/0, 1.1.1.5</a:t>
                      </a:r>
                    </a:p>
                    <a:p>
                      <a:pPr algn="ctr"/>
                      <a:r>
                        <a:rPr lang="hu-HU" dirty="0" smtClean="0"/>
                        <a:t>S0/0/0, 1.1.1.6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EIGRP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4.4.4.4</a:t>
                      </a:r>
                    </a:p>
                    <a:p>
                      <a:pPr algn="ctr"/>
                      <a:r>
                        <a:rPr lang="hu-HU" dirty="0" smtClean="0"/>
                        <a:t>6.6.6.6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1219938"/>
                  </a:ext>
                </a:extLst>
              </a:tr>
              <a:tr h="23355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WifiR1</a:t>
                      </a:r>
                    </a:p>
                    <a:p>
                      <a:pPr algn="ctr"/>
                      <a:r>
                        <a:rPr lang="hu-HU" dirty="0" smtClean="0"/>
                        <a:t>WR1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err="1" smtClean="0"/>
                        <a:t>Router</a:t>
                      </a:r>
                      <a:r>
                        <a:rPr lang="hu-HU" dirty="0" smtClean="0"/>
                        <a:t> (1941)</a:t>
                      </a:r>
                    </a:p>
                    <a:p>
                      <a:pPr algn="ctr"/>
                      <a:r>
                        <a:rPr lang="hu-HU" dirty="0" smtClean="0"/>
                        <a:t>WRT300N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5.0.0.8/30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G0/0, 5.0.0.9</a:t>
                      </a:r>
                    </a:p>
                    <a:p>
                      <a:pPr algn="ctr"/>
                      <a:r>
                        <a:rPr lang="hu-HU" dirty="0" smtClean="0"/>
                        <a:t>0/0, 5.0.0.10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EIGRP</a:t>
                      </a:r>
                    </a:p>
                    <a:p>
                      <a:pPr algn="ctr"/>
                      <a:r>
                        <a:rPr lang="hu-HU" dirty="0" smtClean="0"/>
                        <a:t>Statikus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3.3.3.3</a:t>
                      </a:r>
                    </a:p>
                    <a:p>
                      <a:pPr algn="ctr"/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816258"/>
                  </a:ext>
                </a:extLst>
              </a:tr>
              <a:tr h="23355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WifiR1</a:t>
                      </a:r>
                    </a:p>
                    <a:p>
                      <a:pPr algn="ctr"/>
                      <a:r>
                        <a:rPr lang="hu-HU" dirty="0" smtClean="0"/>
                        <a:t>WR2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err="1" smtClean="0"/>
                        <a:t>Router</a:t>
                      </a:r>
                      <a:r>
                        <a:rPr lang="hu-HU" dirty="0" smtClean="0"/>
                        <a:t> (1941)</a:t>
                      </a:r>
                    </a:p>
                    <a:p>
                      <a:pPr algn="ctr"/>
                      <a:r>
                        <a:rPr lang="hu-HU" dirty="0" smtClean="0"/>
                        <a:t>WRT300N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5.0.0.4/30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G0/1, 5.0.0.5</a:t>
                      </a:r>
                      <a:br>
                        <a:rPr lang="hu-HU" dirty="0" smtClean="0"/>
                      </a:br>
                      <a:r>
                        <a:rPr lang="hu-HU" dirty="0" smtClean="0"/>
                        <a:t>0/0, 5.0.0.6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EIGRP</a:t>
                      </a:r>
                    </a:p>
                    <a:p>
                      <a:pPr algn="ctr"/>
                      <a:r>
                        <a:rPr lang="hu-HU" dirty="0" smtClean="0"/>
                        <a:t>Statikus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3.3.3.3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68348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2237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IPv6 Címek</a:t>
            </a:r>
            <a:endParaRPr lang="hu-HU" dirty="0"/>
          </a:p>
        </p:txBody>
      </p:sp>
      <p:graphicFrame>
        <p:nvGraphicFramePr>
          <p:cNvPr id="4" name="Tartalom helye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8857504"/>
              </p:ext>
            </p:extLst>
          </p:nvPr>
        </p:nvGraphicFramePr>
        <p:xfrm>
          <a:off x="0" y="1976074"/>
          <a:ext cx="12192000" cy="247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2631">
                  <a:extLst>
                    <a:ext uri="{9D8B030D-6E8A-4147-A177-3AD203B41FA5}">
                      <a16:colId xmlns:a16="http://schemas.microsoft.com/office/drawing/2014/main" val="2046679271"/>
                    </a:ext>
                  </a:extLst>
                </a:gridCol>
                <a:gridCol w="1979802">
                  <a:extLst>
                    <a:ext uri="{9D8B030D-6E8A-4147-A177-3AD203B41FA5}">
                      <a16:colId xmlns:a16="http://schemas.microsoft.com/office/drawing/2014/main" val="1508058854"/>
                    </a:ext>
                  </a:extLst>
                </a:gridCol>
                <a:gridCol w="1090569">
                  <a:extLst>
                    <a:ext uri="{9D8B030D-6E8A-4147-A177-3AD203B41FA5}">
                      <a16:colId xmlns:a16="http://schemas.microsoft.com/office/drawing/2014/main" val="3169636774"/>
                    </a:ext>
                  </a:extLst>
                </a:gridCol>
                <a:gridCol w="3404998">
                  <a:extLst>
                    <a:ext uri="{9D8B030D-6E8A-4147-A177-3AD203B41FA5}">
                      <a16:colId xmlns:a16="http://schemas.microsoft.com/office/drawing/2014/main" val="206068694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280931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2431741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dirty="0" smtClean="0"/>
                        <a:t>Hálózat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Eszköz</a:t>
                      </a:r>
                      <a:r>
                        <a:rPr lang="hu-HU" baseline="0" dirty="0" smtClean="0"/>
                        <a:t> Típusa</a:t>
                      </a:r>
                      <a:endParaRPr lang="hu-HU" dirty="0" smtClean="0"/>
                    </a:p>
                    <a:p>
                      <a:pPr algn="ctr"/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Eszköz</a:t>
                      </a:r>
                      <a:r>
                        <a:rPr lang="hu-HU" baseline="0" dirty="0" smtClean="0"/>
                        <a:t> Neve</a:t>
                      </a:r>
                      <a:endParaRPr lang="hu-HU" dirty="0" smtClean="0"/>
                    </a:p>
                    <a:p>
                      <a:pPr algn="ctr"/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Hálózat</a:t>
                      </a:r>
                      <a:r>
                        <a:rPr lang="hu-HU" baseline="0" dirty="0" smtClean="0"/>
                        <a:t> Azonosító</a:t>
                      </a:r>
                      <a:endParaRPr lang="hu-HU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Forgalomirányítás</a:t>
                      </a:r>
                      <a:r>
                        <a:rPr lang="hu-HU" baseline="0" dirty="0" smtClean="0"/>
                        <a:t> Típusa</a:t>
                      </a:r>
                      <a:endParaRPr lang="hu-HU" dirty="0" smtClean="0"/>
                    </a:p>
                    <a:p>
                      <a:pPr algn="ctr"/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dirty="0" smtClean="0"/>
                        <a:t>Használt </a:t>
                      </a:r>
                      <a:r>
                        <a:rPr lang="hu-HU" dirty="0" err="1" smtClean="0"/>
                        <a:t>Protokolok</a:t>
                      </a:r>
                      <a:endParaRPr lang="hu-HU" dirty="0" smtClean="0"/>
                    </a:p>
                    <a:p>
                      <a:pPr algn="ctr"/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0614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dirty="0" smtClean="0"/>
                        <a:t>VLAN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err="1" smtClean="0"/>
                        <a:t>Router</a:t>
                      </a:r>
                      <a:r>
                        <a:rPr lang="hu-HU" dirty="0" smtClean="0"/>
                        <a:t> (1941)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VlanR1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Vlan10: 2001:1:1::/64</a:t>
                      </a:r>
                      <a:br>
                        <a:rPr lang="hu-HU" dirty="0" smtClean="0"/>
                      </a:br>
                      <a:r>
                        <a:rPr lang="hu-HU" dirty="0" smtClean="0"/>
                        <a:t>Vlan20: 2001:1:2::/64</a:t>
                      </a:r>
                      <a:br>
                        <a:rPr lang="hu-HU" dirty="0" smtClean="0"/>
                      </a:br>
                      <a:r>
                        <a:rPr lang="hu-HU" dirty="0" smtClean="0"/>
                        <a:t>Vlan30: 2001:1:3::/64</a:t>
                      </a:r>
                      <a:br>
                        <a:rPr lang="hu-HU" dirty="0" smtClean="0"/>
                      </a:br>
                      <a:r>
                        <a:rPr lang="hu-HU" dirty="0" smtClean="0"/>
                        <a:t>Vlan40:</a:t>
                      </a:r>
                      <a:r>
                        <a:rPr lang="hu-HU" baseline="0" dirty="0" smtClean="0"/>
                        <a:t> 2001:1:4::/64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OSPFv6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-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695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dirty="0" smtClean="0"/>
                        <a:t>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err="1" smtClean="0"/>
                        <a:t>Router</a:t>
                      </a:r>
                      <a:r>
                        <a:rPr lang="hu-HU" dirty="0" smtClean="0"/>
                        <a:t> (1941)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IR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LAN:</a:t>
                      </a:r>
                      <a:r>
                        <a:rPr lang="hu-HU" baseline="0" dirty="0" smtClean="0"/>
                        <a:t> 2001:4860:4860::/64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OSPFv6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-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5287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5983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IPv6 Címek (WAN kapcsolatok)</a:t>
            </a:r>
            <a:endParaRPr lang="hu-HU" dirty="0"/>
          </a:p>
        </p:txBody>
      </p:sp>
      <p:graphicFrame>
        <p:nvGraphicFramePr>
          <p:cNvPr id="4" name="Tartalom helye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0993989"/>
              </p:ext>
            </p:extLst>
          </p:nvPr>
        </p:nvGraphicFramePr>
        <p:xfrm>
          <a:off x="0" y="1976074"/>
          <a:ext cx="121920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46679271"/>
                    </a:ext>
                  </a:extLst>
                </a:gridCol>
                <a:gridCol w="1600433">
                  <a:extLst>
                    <a:ext uri="{9D8B030D-6E8A-4147-A177-3AD203B41FA5}">
                      <a16:colId xmlns:a16="http://schemas.microsoft.com/office/drawing/2014/main" val="1508058854"/>
                    </a:ext>
                  </a:extLst>
                </a:gridCol>
                <a:gridCol w="1862356">
                  <a:extLst>
                    <a:ext uri="{9D8B030D-6E8A-4147-A177-3AD203B41FA5}">
                      <a16:colId xmlns:a16="http://schemas.microsoft.com/office/drawing/2014/main" val="3169636774"/>
                    </a:ext>
                  </a:extLst>
                </a:gridCol>
                <a:gridCol w="2633211">
                  <a:extLst>
                    <a:ext uri="{9D8B030D-6E8A-4147-A177-3AD203B41FA5}">
                      <a16:colId xmlns:a16="http://schemas.microsoft.com/office/drawing/2014/main" val="206068694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280931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2431741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dirty="0" smtClean="0"/>
                        <a:t>Kapcsolatba</a:t>
                      </a:r>
                      <a:r>
                        <a:rPr lang="hu-HU" baseline="0" dirty="0" smtClean="0"/>
                        <a:t> Tartozó E</a:t>
                      </a:r>
                      <a:r>
                        <a:rPr lang="hu-HU" dirty="0" smtClean="0"/>
                        <a:t>szközök Nevei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dirty="0" smtClean="0"/>
                        <a:t>Eszközök</a:t>
                      </a:r>
                      <a:r>
                        <a:rPr lang="hu-HU" baseline="0" dirty="0" smtClean="0"/>
                        <a:t> Típusai</a:t>
                      </a:r>
                      <a:endParaRPr lang="hu-HU" dirty="0" smtClean="0"/>
                    </a:p>
                    <a:p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dirty="0" smtClean="0"/>
                        <a:t>Hálózat</a:t>
                      </a:r>
                      <a:r>
                        <a:rPr lang="hu-HU" baseline="0" dirty="0" smtClean="0"/>
                        <a:t> azonosító</a:t>
                      </a:r>
                      <a:endParaRPr lang="hu-HU" dirty="0" smtClean="0"/>
                    </a:p>
                    <a:p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dirty="0" smtClean="0"/>
                        <a:t>Portok és pontos címek</a:t>
                      </a:r>
                    </a:p>
                    <a:p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dirty="0" smtClean="0"/>
                        <a:t>Forgalomirányítások</a:t>
                      </a:r>
                      <a:r>
                        <a:rPr lang="hu-HU" baseline="0" dirty="0" smtClean="0"/>
                        <a:t> Típusai</a:t>
                      </a:r>
                      <a:endParaRPr lang="hu-HU" dirty="0" smtClean="0"/>
                    </a:p>
                    <a:p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err="1" smtClean="0"/>
                        <a:t>Router-IDk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0614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 smtClean="0"/>
                        <a:t>VlanR1</a:t>
                      </a:r>
                    </a:p>
                    <a:p>
                      <a:r>
                        <a:rPr lang="hu-HU" dirty="0" smtClean="0"/>
                        <a:t>KR2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err="1" smtClean="0"/>
                        <a:t>Router</a:t>
                      </a:r>
                      <a:r>
                        <a:rPr lang="hu-HU" dirty="0" smtClean="0"/>
                        <a:t> (1941)</a:t>
                      </a:r>
                    </a:p>
                    <a:p>
                      <a:r>
                        <a:rPr lang="hu-HU" dirty="0" err="1" smtClean="0"/>
                        <a:t>Router</a:t>
                      </a:r>
                      <a:r>
                        <a:rPr lang="hu-HU" dirty="0" smtClean="0"/>
                        <a:t> (1941)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smtClean="0"/>
                        <a:t>2001:db8:1::/64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smtClean="0"/>
                        <a:t>S0/1/1, 2001:db8:1::1</a:t>
                      </a:r>
                    </a:p>
                    <a:p>
                      <a:r>
                        <a:rPr lang="hu-HU" dirty="0" smtClean="0"/>
                        <a:t>S0/1/1,</a:t>
                      </a:r>
                      <a:r>
                        <a:rPr lang="hu-HU" baseline="0" dirty="0" smtClean="0"/>
                        <a:t> </a:t>
                      </a:r>
                      <a:r>
                        <a:rPr lang="hu-HU" dirty="0" smtClean="0"/>
                        <a:t>2001:db8:1::2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smtClean="0"/>
                        <a:t>OSPFv6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smtClean="0"/>
                        <a:t>1.1.1.1</a:t>
                      </a:r>
                    </a:p>
                    <a:p>
                      <a:r>
                        <a:rPr lang="hu-HU" dirty="0" smtClean="0"/>
                        <a:t>2.2.2.2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595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 smtClean="0"/>
                        <a:t>KR2</a:t>
                      </a:r>
                    </a:p>
                    <a:p>
                      <a:r>
                        <a:rPr lang="hu-HU" dirty="0" smtClean="0"/>
                        <a:t>KR1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err="1" smtClean="0"/>
                        <a:t>Router</a:t>
                      </a:r>
                      <a:r>
                        <a:rPr lang="hu-HU" dirty="0" smtClean="0"/>
                        <a:t> (1941)</a:t>
                      </a:r>
                    </a:p>
                    <a:p>
                      <a:r>
                        <a:rPr lang="hu-HU" dirty="0" err="1" smtClean="0"/>
                        <a:t>Router</a:t>
                      </a:r>
                      <a:r>
                        <a:rPr lang="hu-HU" dirty="0" smtClean="0"/>
                        <a:t> (1941)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smtClean="0">
                          <a:effectLst/>
                        </a:rPr>
                        <a:t>2001:db8:2::/64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smtClean="0"/>
                        <a:t>S0/0/1,</a:t>
                      </a:r>
                      <a:r>
                        <a:rPr lang="hu-HU" baseline="0" dirty="0" smtClean="0"/>
                        <a:t> </a:t>
                      </a:r>
                      <a:r>
                        <a:rPr lang="hu-HU" dirty="0" smtClean="0"/>
                        <a:t>2001:db8:2::1</a:t>
                      </a:r>
                    </a:p>
                    <a:p>
                      <a:r>
                        <a:rPr lang="hu-HU" dirty="0" smtClean="0"/>
                        <a:t>S0/0/1, 2001:db8:2::2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smtClean="0"/>
                        <a:t>OSPFv6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smtClean="0"/>
                        <a:t>2.2.2.2</a:t>
                      </a:r>
                    </a:p>
                    <a:p>
                      <a:r>
                        <a:rPr lang="hu-HU" dirty="0" smtClean="0"/>
                        <a:t>3.3.3.3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091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 smtClean="0"/>
                        <a:t>KR1</a:t>
                      </a:r>
                    </a:p>
                    <a:p>
                      <a:r>
                        <a:rPr lang="hu-HU" dirty="0" smtClean="0"/>
                        <a:t>IR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err="1" smtClean="0"/>
                        <a:t>Router</a:t>
                      </a:r>
                      <a:r>
                        <a:rPr lang="hu-HU" dirty="0" smtClean="0"/>
                        <a:t> (1941)</a:t>
                      </a:r>
                    </a:p>
                    <a:p>
                      <a:r>
                        <a:rPr lang="hu-HU" dirty="0" err="1" smtClean="0"/>
                        <a:t>Router</a:t>
                      </a:r>
                      <a:r>
                        <a:rPr lang="hu-HU" dirty="0" smtClean="0"/>
                        <a:t> (1941)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smtClean="0">
                          <a:effectLst/>
                        </a:rPr>
                        <a:t>2001:db8:3::/64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smtClean="0"/>
                        <a:t>S0/0/0, 2001:db8:3::2</a:t>
                      </a:r>
                    </a:p>
                    <a:p>
                      <a:r>
                        <a:rPr lang="hu-HU" dirty="0" smtClean="0"/>
                        <a:t>S0/0/0,</a:t>
                      </a:r>
                      <a:r>
                        <a:rPr lang="hu-HU" baseline="0" dirty="0" smtClean="0"/>
                        <a:t> 2001:db8:3::1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smtClean="0"/>
                        <a:t>OSPFv6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smtClean="0"/>
                        <a:t>3.3.3.3</a:t>
                      </a:r>
                    </a:p>
                    <a:p>
                      <a:r>
                        <a:rPr lang="hu-HU" dirty="0" smtClean="0"/>
                        <a:t>4.4.4.4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3052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4586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Szerverek</a:t>
            </a:r>
            <a:endParaRPr lang="hu-HU" dirty="0"/>
          </a:p>
        </p:txBody>
      </p:sp>
      <p:graphicFrame>
        <p:nvGraphicFramePr>
          <p:cNvPr id="4" name="Tartalom helye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0836189"/>
              </p:ext>
            </p:extLst>
          </p:nvPr>
        </p:nvGraphicFramePr>
        <p:xfrm>
          <a:off x="0" y="1976074"/>
          <a:ext cx="12192000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787">
                  <a:extLst>
                    <a:ext uri="{9D8B030D-6E8A-4147-A177-3AD203B41FA5}">
                      <a16:colId xmlns:a16="http://schemas.microsoft.com/office/drawing/2014/main" val="715664239"/>
                    </a:ext>
                  </a:extLst>
                </a:gridCol>
                <a:gridCol w="1635853">
                  <a:extLst>
                    <a:ext uri="{9D8B030D-6E8A-4147-A177-3AD203B41FA5}">
                      <a16:colId xmlns:a16="http://schemas.microsoft.com/office/drawing/2014/main" val="598818072"/>
                    </a:ext>
                  </a:extLst>
                </a:gridCol>
                <a:gridCol w="2197916">
                  <a:extLst>
                    <a:ext uri="{9D8B030D-6E8A-4147-A177-3AD203B41FA5}">
                      <a16:colId xmlns:a16="http://schemas.microsoft.com/office/drawing/2014/main" val="2008953286"/>
                    </a:ext>
                  </a:extLst>
                </a:gridCol>
                <a:gridCol w="1702965">
                  <a:extLst>
                    <a:ext uri="{9D8B030D-6E8A-4147-A177-3AD203B41FA5}">
                      <a16:colId xmlns:a16="http://schemas.microsoft.com/office/drawing/2014/main" val="1401630795"/>
                    </a:ext>
                  </a:extLst>
                </a:gridCol>
                <a:gridCol w="2508308">
                  <a:extLst>
                    <a:ext uri="{9D8B030D-6E8A-4147-A177-3AD203B41FA5}">
                      <a16:colId xmlns:a16="http://schemas.microsoft.com/office/drawing/2014/main" val="3114845192"/>
                    </a:ext>
                  </a:extLst>
                </a:gridCol>
                <a:gridCol w="3224171">
                  <a:extLst>
                    <a:ext uri="{9D8B030D-6E8A-4147-A177-3AD203B41FA5}">
                      <a16:colId xmlns:a16="http://schemas.microsoft.com/office/drawing/2014/main" val="36287234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Eszköz</a:t>
                      </a:r>
                      <a:r>
                        <a:rPr lang="hu-HU" baseline="0" dirty="0" smtClean="0"/>
                        <a:t> neve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Hálózata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Belső</a:t>
                      </a:r>
                      <a:r>
                        <a:rPr lang="hu-HU" baseline="0" dirty="0" smtClean="0"/>
                        <a:t> IPv4 címe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Külső</a:t>
                      </a:r>
                      <a:r>
                        <a:rPr lang="hu-HU" baseline="0" dirty="0" smtClean="0"/>
                        <a:t> IPv4 címe (NAT)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IPv6</a:t>
                      </a:r>
                      <a:r>
                        <a:rPr lang="hu-HU" baseline="0" dirty="0" smtClean="0"/>
                        <a:t> Címe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Célja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4802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HTTP1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Internet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192.168.0.4/24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8.8.4.5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2001:4860:4860::4444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aseline="0" dirty="0" smtClean="0"/>
                        <a:t>Web szerver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3054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HTTP2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Internet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192.168.0.2/24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8.8.4.3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2001:4860:4860::2222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Web szerver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6539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HTTP3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err="1" smtClean="0"/>
                        <a:t>Wifi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192.168.100.20/24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5.0.0.6:80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-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Web szerver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2380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HTTP4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Tűzfal</a:t>
                      </a:r>
                      <a:r>
                        <a:rPr lang="hu-HU" baseline="0" dirty="0" smtClean="0"/>
                        <a:t> Közeg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172.16.0.160/25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1.2.3.4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-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Web szerver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1804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DNS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Internet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192.168.0.3/24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8.8.4.4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2001:4860:4860::8888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DNS a Web szervereknek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455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 err="1" smtClean="0"/>
                        <a:t>Radius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Internet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192.168.0.5/24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8.8.4.6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2001:4860:4860::6666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WIFI számára fiókokat kezel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9761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DHCP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VLAN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10.0.10.10/26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Nincs</a:t>
                      </a:r>
                      <a:r>
                        <a:rPr lang="hu-HU" baseline="0" dirty="0" smtClean="0"/>
                        <a:t> NAT-</a:t>
                      </a:r>
                      <a:r>
                        <a:rPr lang="hu-HU" baseline="0" dirty="0" err="1" smtClean="0"/>
                        <a:t>olva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DHCP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 smtClean="0"/>
                        <a:t>VLAN</a:t>
                      </a:r>
                      <a:r>
                        <a:rPr lang="hu-HU" baseline="0" dirty="0" smtClean="0"/>
                        <a:t> közegben DHCP szerver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429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1773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 VLAN</a:t>
            </a:r>
            <a:r>
              <a:rPr lang="hu-HU" dirty="0"/>
              <a:t> </a:t>
            </a:r>
            <a:r>
              <a:rPr lang="hu-HU" dirty="0" smtClean="0"/>
              <a:t>Közeg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80321" y="2336873"/>
            <a:ext cx="9613861" cy="43910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 smtClean="0"/>
              <a:t>A VLAN közegben 4 VLAN-t hoztunk létre:</a:t>
            </a:r>
          </a:p>
          <a:p>
            <a:r>
              <a:rPr lang="hu-HU" dirty="0" smtClean="0"/>
              <a:t>Vlan10: 10.0.10.0/26, 2001:1:1::/64</a:t>
            </a:r>
          </a:p>
          <a:p>
            <a:r>
              <a:rPr lang="hu-HU" dirty="0" smtClean="0"/>
              <a:t>Vlan20: 10.0.20.0/26, 2001:1:2::/64</a:t>
            </a:r>
          </a:p>
          <a:p>
            <a:r>
              <a:rPr lang="hu-HU" dirty="0" smtClean="0"/>
              <a:t>Vlan30: 10.0.30.0/26, 2001:1:3::/64</a:t>
            </a:r>
          </a:p>
          <a:p>
            <a:r>
              <a:rPr lang="hu-HU" dirty="0" smtClean="0"/>
              <a:t>Vlan40: 10.0.40.0/26, 2001:1:4::/64</a:t>
            </a:r>
          </a:p>
          <a:p>
            <a:pPr marL="0" indent="0">
              <a:buNone/>
            </a:pPr>
            <a:r>
              <a:rPr lang="hu-HU" dirty="0" smtClean="0"/>
              <a:t>Ebben a közegben alkalmaztunk egy DHCP szervert, amely az összes LAN-ra oszt IP címeket. Két határmenti </a:t>
            </a:r>
            <a:r>
              <a:rPr lang="hu-HU" dirty="0" err="1" smtClean="0"/>
              <a:t>routerünk</a:t>
            </a:r>
            <a:r>
              <a:rPr lang="hu-HU" dirty="0" smtClean="0"/>
              <a:t> van, egy közös IP címmel (HSRP, minden hálózatban a .3-as címet kapta), ennek köszönhetően ha az egyik </a:t>
            </a:r>
            <a:r>
              <a:rPr lang="hu-HU" dirty="0" err="1" smtClean="0"/>
              <a:t>router</a:t>
            </a:r>
            <a:r>
              <a:rPr lang="hu-HU" dirty="0" smtClean="0"/>
              <a:t> kiesik, akkor a másik áttudja venni az irányítást.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57909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VLAN Topológia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650" y="2021833"/>
            <a:ext cx="4279275" cy="483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255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VLAN </a:t>
            </a:r>
            <a:r>
              <a:rPr lang="hu-HU" dirty="0" err="1" smtClean="0"/>
              <a:t>Router</a:t>
            </a:r>
            <a:r>
              <a:rPr lang="hu-HU" dirty="0" smtClean="0"/>
              <a:t> (R1)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746426" y="2249688"/>
            <a:ext cx="6701991" cy="3599316"/>
          </a:xfrm>
        </p:spPr>
        <p:txBody>
          <a:bodyPr/>
          <a:lstStyle/>
          <a:p>
            <a:pPr marL="0" indent="0" algn="ctr">
              <a:buNone/>
            </a:pPr>
            <a:r>
              <a:rPr lang="hu-HU" dirty="0" smtClean="0"/>
              <a:t>Az R1 </a:t>
            </a:r>
            <a:r>
              <a:rPr lang="hu-HU" dirty="0" err="1" smtClean="0"/>
              <a:t>routerünket</a:t>
            </a:r>
            <a:r>
              <a:rPr lang="hu-HU" dirty="0"/>
              <a:t> </a:t>
            </a:r>
            <a:r>
              <a:rPr lang="hu-HU" dirty="0" smtClean="0"/>
              <a:t>úgy konfiguráltuk be, hogy a Vlan10 és a Vlan20-nak ő lesz a fő </a:t>
            </a:r>
            <a:r>
              <a:rPr lang="hu-HU" dirty="0" err="1" smtClean="0"/>
              <a:t>routere</a:t>
            </a:r>
            <a:r>
              <a:rPr lang="hu-HU" dirty="0" smtClean="0"/>
              <a:t>, valamint a Vlan30 és Vlan40-nek ő lesz a „backup” </a:t>
            </a:r>
            <a:r>
              <a:rPr lang="hu-HU" dirty="0" err="1" smtClean="0"/>
              <a:t>routere</a:t>
            </a:r>
            <a:r>
              <a:rPr lang="hu-HU" dirty="0" smtClean="0"/>
              <a:t>. Konfiguráltunk PAT-</a:t>
            </a:r>
            <a:r>
              <a:rPr lang="hu-HU" dirty="0" err="1" smtClean="0"/>
              <a:t>ot</a:t>
            </a:r>
            <a:r>
              <a:rPr lang="hu-HU" dirty="0" smtClean="0"/>
              <a:t> is, hogy a belső végponti eszközeink tudjanak kifele kommunikálni a </a:t>
            </a:r>
            <a:r>
              <a:rPr lang="hu-HU" dirty="0" err="1" smtClean="0"/>
              <a:t>routerünk</a:t>
            </a:r>
            <a:r>
              <a:rPr lang="hu-HU" dirty="0" smtClean="0"/>
              <a:t> külső IP címét használva</a:t>
            </a: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7157"/>
            <a:ext cx="2743583" cy="3381847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417" y="2467157"/>
            <a:ext cx="2743583" cy="3381847"/>
          </a:xfrm>
          <a:prstGeom prst="rect">
            <a:avLst/>
          </a:prstGeom>
        </p:spPr>
      </p:pic>
      <p:pic>
        <p:nvPicPr>
          <p:cNvPr id="6" name="Kép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6418" y="4610623"/>
            <a:ext cx="4039164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7613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VLAN </a:t>
            </a:r>
            <a:r>
              <a:rPr lang="hu-HU" dirty="0" err="1"/>
              <a:t>Router</a:t>
            </a:r>
            <a:r>
              <a:rPr lang="hu-HU" dirty="0"/>
              <a:t> (R1)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238687" y="2116949"/>
            <a:ext cx="6920105" cy="3599316"/>
          </a:xfrm>
        </p:spPr>
        <p:txBody>
          <a:bodyPr/>
          <a:lstStyle/>
          <a:p>
            <a:pPr marL="0" indent="0">
              <a:buNone/>
            </a:pPr>
            <a:r>
              <a:rPr lang="hu-HU" dirty="0" smtClean="0"/>
              <a:t>A </a:t>
            </a:r>
            <a:r>
              <a:rPr lang="hu-HU" dirty="0" err="1" smtClean="0"/>
              <a:t>Vlan</a:t>
            </a:r>
            <a:r>
              <a:rPr lang="hu-HU" dirty="0" smtClean="0"/>
              <a:t> végponti eszközei (szervert kivéve) DHCP címet kapnak. Az IPv4 címteret a szerveren, az IPv6 címteret pedig a </a:t>
            </a:r>
            <a:r>
              <a:rPr lang="hu-HU" dirty="0" err="1" smtClean="0"/>
              <a:t>routeren</a:t>
            </a:r>
            <a:r>
              <a:rPr lang="hu-HU" dirty="0" smtClean="0"/>
              <a:t> konfiguráltuk be.</a:t>
            </a:r>
            <a:br>
              <a:rPr lang="hu-HU" dirty="0" smtClean="0"/>
            </a:br>
            <a:r>
              <a:rPr lang="hu-HU" dirty="0" smtClean="0"/>
              <a:t>Ezen az eszközön EIGRP-t használtunk IPv4 forgalomirányításként, valamint OSPFv6-ot IPv6 forgalomirányításként.</a:t>
            </a: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16949"/>
            <a:ext cx="2238687" cy="2019582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3300" y="4136531"/>
            <a:ext cx="4667901" cy="1181265"/>
          </a:xfrm>
          <a:prstGeom prst="rect">
            <a:avLst/>
          </a:prstGeom>
        </p:spPr>
      </p:pic>
      <p:pic>
        <p:nvPicPr>
          <p:cNvPr id="6" name="Kép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8792" y="2307475"/>
            <a:ext cx="2734057" cy="163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049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VLAN </a:t>
            </a:r>
            <a:r>
              <a:rPr lang="hu-HU" dirty="0" err="1" smtClean="0"/>
              <a:t>Router</a:t>
            </a:r>
            <a:r>
              <a:rPr lang="hu-HU" dirty="0" smtClean="0"/>
              <a:t> (R2)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705478" y="2336873"/>
            <a:ext cx="6781044" cy="3599316"/>
          </a:xfrm>
        </p:spPr>
        <p:txBody>
          <a:bodyPr/>
          <a:lstStyle/>
          <a:p>
            <a:pPr marL="0" indent="0">
              <a:buNone/>
            </a:pPr>
            <a:r>
              <a:rPr lang="hu-HU" dirty="0" smtClean="0"/>
              <a:t>R2 </a:t>
            </a:r>
            <a:r>
              <a:rPr lang="hu-HU" dirty="0" err="1" smtClean="0"/>
              <a:t>Routerünkben</a:t>
            </a:r>
            <a:r>
              <a:rPr lang="hu-HU" dirty="0" smtClean="0"/>
              <a:t> pedig a HSRP pont fordítva van. Vlan10 és Vlan20-nak ez a </a:t>
            </a:r>
            <a:r>
              <a:rPr lang="hu-HU" dirty="0" err="1" smtClean="0"/>
              <a:t>router</a:t>
            </a:r>
            <a:r>
              <a:rPr lang="hu-HU" dirty="0" smtClean="0"/>
              <a:t> lesz a másodlagos (Back-</a:t>
            </a:r>
            <a:r>
              <a:rPr lang="hu-HU" dirty="0" err="1" smtClean="0"/>
              <a:t>up</a:t>
            </a:r>
            <a:r>
              <a:rPr lang="hu-HU" dirty="0" smtClean="0"/>
              <a:t>) </a:t>
            </a:r>
            <a:r>
              <a:rPr lang="hu-HU" dirty="0" err="1" smtClean="0"/>
              <a:t>router</a:t>
            </a:r>
            <a:r>
              <a:rPr lang="hu-HU" dirty="0" smtClean="0"/>
              <a:t>. Vlan30 és Vlan40-nek pedig ez lesz a fő </a:t>
            </a:r>
            <a:r>
              <a:rPr lang="hu-HU" dirty="0" err="1" smtClean="0"/>
              <a:t>routere</a:t>
            </a:r>
            <a:r>
              <a:rPr lang="hu-HU" dirty="0" smtClean="0"/>
              <a:t>. Itt is alkalmaztunk PAT-</a:t>
            </a:r>
            <a:r>
              <a:rPr lang="hu-HU" dirty="0" err="1" smtClean="0"/>
              <a:t>ot</a:t>
            </a:r>
            <a:r>
              <a:rPr lang="hu-HU" dirty="0" smtClean="0"/>
              <a:t>, hogy itt is tudjanak kifele kommunikálni az eszközeink.</a:t>
            </a: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36873"/>
            <a:ext cx="2705478" cy="2314898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522" y="2336873"/>
            <a:ext cx="2705478" cy="2314898"/>
          </a:xfrm>
          <a:prstGeom prst="rect">
            <a:avLst/>
          </a:prstGeom>
        </p:spPr>
      </p:pic>
      <p:pic>
        <p:nvPicPr>
          <p:cNvPr id="6" name="Kép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6892" y="4459608"/>
            <a:ext cx="4058216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611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VLAN </a:t>
            </a:r>
            <a:r>
              <a:rPr lang="hu-HU" dirty="0" err="1"/>
              <a:t>Router</a:t>
            </a:r>
            <a:r>
              <a:rPr lang="hu-HU" dirty="0"/>
              <a:t> (R2)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80321" y="1988132"/>
            <a:ext cx="9613861" cy="1094224"/>
          </a:xfrm>
        </p:spPr>
        <p:txBody>
          <a:bodyPr/>
          <a:lstStyle/>
          <a:p>
            <a:pPr marL="0" indent="0">
              <a:buNone/>
            </a:pPr>
            <a:r>
              <a:rPr lang="hu-HU" dirty="0" smtClean="0"/>
              <a:t>Valamint itt is kiadtuk a DHCP szervert IPv4 címek kiosztására. Itt viszont nem konfiguráltunk IPv6-ot, ennek köszönhetően itt csak EIGRP-t alkalmaztunk.</a:t>
            </a: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0696" y="2702847"/>
            <a:ext cx="2753109" cy="1066949"/>
          </a:xfrm>
          <a:prstGeom prst="rect">
            <a:avLst/>
          </a:prstGeom>
        </p:spPr>
      </p:pic>
      <p:sp>
        <p:nvSpPr>
          <p:cNvPr id="7" name="Szövegdoboz 6"/>
          <p:cNvSpPr txBox="1"/>
          <p:nvPr/>
        </p:nvSpPr>
        <p:spPr>
          <a:xfrm>
            <a:off x="680321" y="3702383"/>
            <a:ext cx="96138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Viszont ezen a </a:t>
            </a:r>
            <a:r>
              <a:rPr lang="hu-HU" dirty="0" err="1" smtClean="0"/>
              <a:t>routeren</a:t>
            </a:r>
            <a:r>
              <a:rPr lang="hu-HU" dirty="0" smtClean="0"/>
              <a:t> konfiguráltunk </a:t>
            </a:r>
            <a:r>
              <a:rPr lang="hu-HU" dirty="0" err="1" smtClean="0"/>
              <a:t>Dial-UP</a:t>
            </a:r>
            <a:r>
              <a:rPr lang="hu-HU" dirty="0" smtClean="0"/>
              <a:t> VPN-t a VPN közeg számára. Ez lesz a VPN „szerverünk”</a:t>
            </a:r>
            <a:endParaRPr lang="hu-HU" dirty="0"/>
          </a:p>
        </p:txBody>
      </p:sp>
      <p:pic>
        <p:nvPicPr>
          <p:cNvPr id="8" name="Kép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21" y="4020133"/>
            <a:ext cx="3734321" cy="1114581"/>
          </a:xfrm>
          <a:prstGeom prst="rect">
            <a:avLst/>
          </a:prstGeom>
        </p:spPr>
      </p:pic>
      <p:pic>
        <p:nvPicPr>
          <p:cNvPr id="9" name="Kép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5822" y="5134714"/>
            <a:ext cx="1743318" cy="590632"/>
          </a:xfrm>
          <a:prstGeom prst="rect">
            <a:avLst/>
          </a:prstGeom>
        </p:spPr>
      </p:pic>
      <p:pic>
        <p:nvPicPr>
          <p:cNvPr id="10" name="Kép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6977" y="4968741"/>
            <a:ext cx="3801005" cy="858147"/>
          </a:xfrm>
          <a:prstGeom prst="rect">
            <a:avLst/>
          </a:prstGeom>
        </p:spPr>
      </p:pic>
      <p:pic>
        <p:nvPicPr>
          <p:cNvPr id="11" name="Kép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4609" y="4025634"/>
            <a:ext cx="3705742" cy="943107"/>
          </a:xfrm>
          <a:prstGeom prst="rect">
            <a:avLst/>
          </a:prstGeom>
        </p:spPr>
      </p:pic>
      <p:pic>
        <p:nvPicPr>
          <p:cNvPr id="12" name="Kép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2453" y="5714063"/>
            <a:ext cx="2010056" cy="285790"/>
          </a:xfrm>
          <a:prstGeom prst="rect">
            <a:avLst/>
          </a:prstGeom>
        </p:spPr>
      </p:pic>
      <p:pic>
        <p:nvPicPr>
          <p:cNvPr id="14" name="Kép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2872" y="5826888"/>
            <a:ext cx="2429214" cy="600159"/>
          </a:xfrm>
          <a:prstGeom prst="rect">
            <a:avLst/>
          </a:prstGeom>
        </p:spPr>
      </p:pic>
      <p:pic>
        <p:nvPicPr>
          <p:cNvPr id="15" name="Kép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7004" y="5999853"/>
            <a:ext cx="3600953" cy="1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6846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Körzet </a:t>
            </a:r>
            <a:r>
              <a:rPr lang="hu-HU" dirty="0" err="1" smtClean="0"/>
              <a:t>Routerek</a:t>
            </a:r>
            <a:r>
              <a:rPr lang="hu-HU" dirty="0" smtClean="0"/>
              <a:t> Topológiája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587" y="2336873"/>
            <a:ext cx="8259328" cy="28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3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Körzet </a:t>
            </a:r>
            <a:r>
              <a:rPr lang="hu-HU" dirty="0" err="1" smtClean="0"/>
              <a:t>Routerek</a:t>
            </a:r>
            <a:r>
              <a:rPr lang="hu-HU" dirty="0" smtClean="0"/>
              <a:t> (KR2)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80320" y="1984536"/>
            <a:ext cx="9613861" cy="3599316"/>
          </a:xfrm>
        </p:spPr>
        <p:txBody>
          <a:bodyPr/>
          <a:lstStyle/>
          <a:p>
            <a:pPr marL="0" indent="0" algn="ctr">
              <a:buNone/>
            </a:pPr>
            <a:r>
              <a:rPr lang="hu-HU" dirty="0" smtClean="0"/>
              <a:t>KR2 </a:t>
            </a:r>
            <a:r>
              <a:rPr lang="hu-HU" dirty="0" err="1" smtClean="0"/>
              <a:t>routerünk</a:t>
            </a:r>
            <a:r>
              <a:rPr lang="hu-HU" dirty="0" smtClean="0"/>
              <a:t> lesz az egyik körzet </a:t>
            </a:r>
            <a:r>
              <a:rPr lang="hu-HU" dirty="0" err="1" smtClean="0"/>
              <a:t>routerünk</a:t>
            </a:r>
            <a:r>
              <a:rPr lang="hu-HU" dirty="0" smtClean="0"/>
              <a:t>. Szerepe a LAN-ok közötti kapcsolat megvalósítása. Ezen az eszközön csak </a:t>
            </a:r>
            <a:r>
              <a:rPr lang="hu-HU" dirty="0" err="1" smtClean="0"/>
              <a:t>Serial</a:t>
            </a:r>
            <a:r>
              <a:rPr lang="hu-HU" dirty="0" smtClean="0"/>
              <a:t> </a:t>
            </a:r>
            <a:r>
              <a:rPr lang="hu-HU" dirty="0" err="1" smtClean="0"/>
              <a:t>portokat</a:t>
            </a:r>
            <a:r>
              <a:rPr lang="hu-HU" dirty="0" smtClean="0"/>
              <a:t> használtunk, valamint EIGRP és OSPFv6 is van forgalomirányításnak.</a:t>
            </a: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493" y="3047391"/>
            <a:ext cx="2676899" cy="2457793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1927" y="3047391"/>
            <a:ext cx="1943371" cy="133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5016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Körzet </a:t>
            </a:r>
            <a:r>
              <a:rPr lang="hu-HU" dirty="0" err="1"/>
              <a:t>Routerek</a:t>
            </a:r>
            <a:r>
              <a:rPr lang="hu-HU" dirty="0"/>
              <a:t> (</a:t>
            </a:r>
            <a:r>
              <a:rPr lang="hu-HU" dirty="0" smtClean="0"/>
              <a:t>KR1)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hu-HU" dirty="0" smtClean="0"/>
              <a:t>KR1 lesz a másik körzet </a:t>
            </a:r>
            <a:r>
              <a:rPr lang="hu-HU" dirty="0" err="1" smtClean="0"/>
              <a:t>routerünk</a:t>
            </a:r>
            <a:r>
              <a:rPr lang="hu-HU" dirty="0" smtClean="0"/>
              <a:t>. Feladata ugyanaz mint KR2-nek, a LAN hálózatok összekötése. Itt is alkalmaztunk EIGRP-t valamint OSPFv6-ot</a:t>
            </a: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1696" y="4136531"/>
            <a:ext cx="2391109" cy="562053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586" y="3464924"/>
            <a:ext cx="2476846" cy="1905266"/>
          </a:xfrm>
          <a:prstGeom prst="rect">
            <a:avLst/>
          </a:prstGeom>
        </p:spPr>
      </p:pic>
      <p:pic>
        <p:nvPicPr>
          <p:cNvPr id="6" name="Kép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0069" y="3741187"/>
            <a:ext cx="1724266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8296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VPN Közeg Topológiája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169" y="2336873"/>
            <a:ext cx="4220164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5156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VPN(R1) és VPN csatlakozás teszt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219662" y="2051083"/>
            <a:ext cx="6074520" cy="3599316"/>
          </a:xfrm>
        </p:spPr>
        <p:txBody>
          <a:bodyPr/>
          <a:lstStyle/>
          <a:p>
            <a:pPr marL="0" indent="0" algn="ctr">
              <a:buNone/>
            </a:pPr>
            <a:r>
              <a:rPr lang="hu-HU" dirty="0" smtClean="0"/>
              <a:t>A VPN </a:t>
            </a:r>
            <a:r>
              <a:rPr lang="hu-HU" dirty="0" err="1" smtClean="0"/>
              <a:t>routeren</a:t>
            </a:r>
            <a:r>
              <a:rPr lang="hu-HU" dirty="0" smtClean="0"/>
              <a:t> található szintén EIGRP, valamint PAT is, hogy a belső eszközeink tudjanak kifele kommunikálni. Alsó képen látható a VPN paraméterei és a sikeres csatlakozás.</a:t>
            </a: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21" y="2008009"/>
            <a:ext cx="2734057" cy="428685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62" y="2500690"/>
            <a:ext cx="2715004" cy="428685"/>
          </a:xfrm>
          <a:prstGeom prst="rect">
            <a:avLst/>
          </a:prstGeom>
        </p:spPr>
      </p:pic>
      <p:pic>
        <p:nvPicPr>
          <p:cNvPr id="6" name="Kép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272" y="2993371"/>
            <a:ext cx="2562583" cy="571580"/>
          </a:xfrm>
          <a:prstGeom prst="rect">
            <a:avLst/>
          </a:prstGeom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91" y="3628947"/>
            <a:ext cx="4067743" cy="1076475"/>
          </a:xfrm>
          <a:prstGeom prst="rect">
            <a:avLst/>
          </a:prstGeom>
        </p:spPr>
      </p:pic>
      <p:pic>
        <p:nvPicPr>
          <p:cNvPr id="8" name="Kép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2779" y="3730944"/>
            <a:ext cx="1581371" cy="1476581"/>
          </a:xfrm>
          <a:prstGeom prst="rect">
            <a:avLst/>
          </a:prstGeom>
        </p:spPr>
      </p:pic>
      <p:pic>
        <p:nvPicPr>
          <p:cNvPr id="9" name="Kép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4150" y="3730944"/>
            <a:ext cx="876422" cy="828791"/>
          </a:xfrm>
          <a:prstGeom prst="rect">
            <a:avLst/>
          </a:prstGeom>
        </p:spPr>
      </p:pic>
      <p:pic>
        <p:nvPicPr>
          <p:cNvPr id="10" name="Kép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61391" y="5207525"/>
            <a:ext cx="6277851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9106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WIFI Közeg Topológiája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5274" y="2241125"/>
            <a:ext cx="4143953" cy="254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5476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Wifi</a:t>
            </a:r>
            <a:r>
              <a:rPr lang="hu-HU" dirty="0" smtClean="0"/>
              <a:t> Közeg (WifiR1)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80320" y="1992925"/>
            <a:ext cx="9613861" cy="3599316"/>
          </a:xfrm>
        </p:spPr>
        <p:txBody>
          <a:bodyPr/>
          <a:lstStyle/>
          <a:p>
            <a:pPr marL="0" indent="0" algn="ctr">
              <a:buNone/>
            </a:pPr>
            <a:r>
              <a:rPr lang="hu-HU" dirty="0" smtClean="0"/>
              <a:t>WifiR1 </a:t>
            </a:r>
            <a:r>
              <a:rPr lang="hu-HU" dirty="0" err="1" smtClean="0"/>
              <a:t>routerünk</a:t>
            </a:r>
            <a:r>
              <a:rPr lang="hu-HU" dirty="0" smtClean="0"/>
              <a:t> egy határmenti </a:t>
            </a:r>
            <a:r>
              <a:rPr lang="hu-HU" dirty="0" err="1" smtClean="0"/>
              <a:t>routerként</a:t>
            </a:r>
            <a:r>
              <a:rPr lang="hu-HU" dirty="0" smtClean="0"/>
              <a:t> fog dolgozni. Ebbe a </a:t>
            </a:r>
            <a:r>
              <a:rPr lang="hu-HU" dirty="0" err="1" smtClean="0"/>
              <a:t>routerbe</a:t>
            </a:r>
            <a:r>
              <a:rPr lang="hu-HU" dirty="0" smtClean="0"/>
              <a:t> csatlakozik bele a két Soho </a:t>
            </a:r>
            <a:r>
              <a:rPr lang="hu-HU" dirty="0" err="1" smtClean="0"/>
              <a:t>router</a:t>
            </a:r>
            <a:r>
              <a:rPr lang="hu-HU" dirty="0" smtClean="0"/>
              <a:t>, két külön hálózattal. Itt is EIGRP-t alkalmaztunk forgalomirányításként. A Soho </a:t>
            </a:r>
            <a:r>
              <a:rPr lang="hu-HU" dirty="0" err="1" smtClean="0"/>
              <a:t>routerek</a:t>
            </a:r>
            <a:r>
              <a:rPr lang="hu-HU" dirty="0" smtClean="0"/>
              <a:t> GigabitEthernet-et használnak, a kifele csatlakozó hálózat (KR1-fele) pedig </a:t>
            </a:r>
            <a:r>
              <a:rPr lang="hu-HU" dirty="0" err="1" smtClean="0"/>
              <a:t>Serial</a:t>
            </a:r>
            <a:r>
              <a:rPr lang="hu-HU" dirty="0" smtClean="0"/>
              <a:t>-t.</a:t>
            </a: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2643" y="3717558"/>
            <a:ext cx="2429214" cy="1228896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2169" y="4964504"/>
            <a:ext cx="2419688" cy="304843"/>
          </a:xfrm>
          <a:prstGeom prst="rect">
            <a:avLst/>
          </a:prstGeom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170" y="5306909"/>
            <a:ext cx="1686160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306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Wifi</a:t>
            </a:r>
            <a:r>
              <a:rPr lang="hu-HU" dirty="0" smtClean="0"/>
              <a:t> Közeg (WR1)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hu-HU" dirty="0" smtClean="0"/>
              <a:t>WR1 Soho </a:t>
            </a:r>
            <a:r>
              <a:rPr lang="hu-HU" dirty="0" err="1" smtClean="0"/>
              <a:t>Router</a:t>
            </a:r>
            <a:r>
              <a:rPr lang="hu-HU" dirty="0" smtClean="0"/>
              <a:t> lesz az egyik olyan eszköz, amely a készülékei csatlakozásának hitelesítéséhez a </a:t>
            </a:r>
            <a:r>
              <a:rPr lang="hu-HU" dirty="0" err="1" smtClean="0"/>
              <a:t>Radius</a:t>
            </a:r>
            <a:r>
              <a:rPr lang="hu-HU" dirty="0" smtClean="0"/>
              <a:t> szervert fogja alkalmazni.</a:t>
            </a: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457" y="3018453"/>
            <a:ext cx="6363588" cy="1914274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524" y="4932727"/>
            <a:ext cx="5011453" cy="192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5532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Wifi</a:t>
            </a:r>
            <a:r>
              <a:rPr lang="hu-HU" dirty="0"/>
              <a:t> Közeg (WR1)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411247" y="2010636"/>
            <a:ext cx="5780753" cy="40502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 err="1" smtClean="0"/>
              <a:t>Wifi</a:t>
            </a:r>
            <a:r>
              <a:rPr lang="hu-HU" dirty="0" smtClean="0"/>
              <a:t> beállításai a következők:</a:t>
            </a:r>
          </a:p>
          <a:p>
            <a:r>
              <a:rPr lang="hu-HU" dirty="0" smtClean="0"/>
              <a:t>SSID: </a:t>
            </a:r>
            <a:r>
              <a:rPr lang="hu-HU" dirty="0" err="1" smtClean="0"/>
              <a:t>QuestNetwork</a:t>
            </a:r>
            <a:endParaRPr lang="hu-HU" dirty="0"/>
          </a:p>
          <a:p>
            <a:r>
              <a:rPr lang="hu-HU" dirty="0" smtClean="0"/>
              <a:t>SSID Szórása: </a:t>
            </a:r>
            <a:r>
              <a:rPr lang="hu-HU" dirty="0" err="1" smtClean="0"/>
              <a:t>Enabled</a:t>
            </a:r>
            <a:endParaRPr lang="hu-HU" dirty="0" smtClean="0"/>
          </a:p>
          <a:p>
            <a:r>
              <a:rPr lang="hu-HU" dirty="0" err="1" smtClean="0"/>
              <a:t>Wireless</a:t>
            </a:r>
            <a:r>
              <a:rPr lang="hu-HU" dirty="0" smtClean="0"/>
              <a:t> </a:t>
            </a:r>
            <a:r>
              <a:rPr lang="hu-HU" dirty="0" err="1" smtClean="0"/>
              <a:t>Security</a:t>
            </a:r>
            <a:r>
              <a:rPr lang="hu-HU" dirty="0" smtClean="0"/>
              <a:t>: WPA Enterprise</a:t>
            </a:r>
          </a:p>
          <a:p>
            <a:r>
              <a:rPr lang="hu-HU" dirty="0" err="1" smtClean="0"/>
              <a:t>Security</a:t>
            </a:r>
            <a:r>
              <a:rPr lang="hu-HU" dirty="0" smtClean="0"/>
              <a:t> </a:t>
            </a:r>
            <a:r>
              <a:rPr lang="hu-HU" dirty="0" err="1" smtClean="0"/>
              <a:t>Encryption</a:t>
            </a:r>
            <a:r>
              <a:rPr lang="hu-HU" dirty="0" smtClean="0"/>
              <a:t>: AES</a:t>
            </a:r>
          </a:p>
          <a:p>
            <a:r>
              <a:rPr lang="hu-HU" dirty="0" err="1" smtClean="0"/>
              <a:t>Radius</a:t>
            </a:r>
            <a:r>
              <a:rPr lang="hu-HU" dirty="0" smtClean="0"/>
              <a:t> Server: 8.8.4.6:1645</a:t>
            </a:r>
          </a:p>
          <a:p>
            <a:r>
              <a:rPr lang="hu-HU" dirty="0" err="1" smtClean="0"/>
              <a:t>Radius</a:t>
            </a:r>
            <a:r>
              <a:rPr lang="hu-HU" dirty="0" smtClean="0"/>
              <a:t> </a:t>
            </a:r>
            <a:r>
              <a:rPr lang="hu-HU" dirty="0" err="1" smtClean="0"/>
              <a:t>Shared</a:t>
            </a:r>
            <a:r>
              <a:rPr lang="hu-HU" dirty="0" smtClean="0"/>
              <a:t> </a:t>
            </a:r>
            <a:r>
              <a:rPr lang="hu-HU" dirty="0" err="1" smtClean="0"/>
              <a:t>Secret</a:t>
            </a:r>
            <a:r>
              <a:rPr lang="hu-HU" dirty="0" smtClean="0"/>
              <a:t> Key: </a:t>
            </a:r>
            <a:r>
              <a:rPr lang="hu-HU" dirty="0" err="1" smtClean="0"/>
              <a:t>WifiQuest</a:t>
            </a: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38" y="2010637"/>
            <a:ext cx="6335009" cy="2048161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38" y="4136531"/>
            <a:ext cx="6325483" cy="192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3186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Wifi</a:t>
            </a:r>
            <a:r>
              <a:rPr lang="hu-HU" dirty="0"/>
              <a:t> Közeg (</a:t>
            </a:r>
            <a:r>
              <a:rPr lang="hu-HU" dirty="0" smtClean="0"/>
              <a:t>WR2)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80320" y="1976147"/>
            <a:ext cx="9613861" cy="3599316"/>
          </a:xfrm>
        </p:spPr>
        <p:txBody>
          <a:bodyPr/>
          <a:lstStyle/>
          <a:p>
            <a:pPr marL="0" indent="0" algn="ctr">
              <a:buNone/>
            </a:pPr>
            <a:r>
              <a:rPr lang="hu-HU" dirty="0" smtClean="0"/>
              <a:t>WR2 lesz a másik Soho </a:t>
            </a:r>
            <a:r>
              <a:rPr lang="hu-HU" dirty="0" err="1" smtClean="0"/>
              <a:t>routerünk</a:t>
            </a:r>
            <a:r>
              <a:rPr lang="hu-HU" dirty="0" smtClean="0"/>
              <a:t>, ez a </a:t>
            </a:r>
            <a:r>
              <a:rPr lang="hu-HU" dirty="0" err="1" smtClean="0"/>
              <a:t>router</a:t>
            </a:r>
            <a:r>
              <a:rPr lang="hu-HU" dirty="0" smtClean="0"/>
              <a:t> már nem használ </a:t>
            </a:r>
            <a:r>
              <a:rPr lang="hu-HU" dirty="0" err="1" smtClean="0"/>
              <a:t>Radius</a:t>
            </a:r>
            <a:r>
              <a:rPr lang="hu-HU" dirty="0" smtClean="0"/>
              <a:t> szerveres hitelesítést. Ebben a hálózatban van a HTTP3 szerverünk, így port továbbítást itt is alkalmaztunk.</a:t>
            </a: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35" y="3364440"/>
            <a:ext cx="5001323" cy="2010056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1643" y="3364440"/>
            <a:ext cx="5001323" cy="20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2183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Wifi</a:t>
            </a:r>
            <a:r>
              <a:rPr lang="hu-HU" dirty="0"/>
              <a:t> Közeg (WR2)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325299" y="2126474"/>
            <a:ext cx="5301842" cy="36581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 err="1"/>
              <a:t>Wifi</a:t>
            </a:r>
            <a:r>
              <a:rPr lang="hu-HU" dirty="0"/>
              <a:t> beállításai a következők:</a:t>
            </a:r>
          </a:p>
          <a:p>
            <a:r>
              <a:rPr lang="hu-HU" dirty="0"/>
              <a:t>SSID</a:t>
            </a:r>
            <a:r>
              <a:rPr lang="hu-HU" dirty="0" smtClean="0"/>
              <a:t>: </a:t>
            </a:r>
            <a:r>
              <a:rPr lang="hu-HU" dirty="0" err="1" smtClean="0"/>
              <a:t>AdminSite</a:t>
            </a:r>
            <a:endParaRPr lang="hu-HU" dirty="0" smtClean="0"/>
          </a:p>
          <a:p>
            <a:r>
              <a:rPr lang="hu-HU" dirty="0" smtClean="0"/>
              <a:t>SSID </a:t>
            </a:r>
            <a:r>
              <a:rPr lang="hu-HU" dirty="0"/>
              <a:t>Szórása: </a:t>
            </a:r>
            <a:r>
              <a:rPr lang="hu-HU" dirty="0" err="1" smtClean="0"/>
              <a:t>Disabled</a:t>
            </a:r>
            <a:endParaRPr lang="hu-HU" dirty="0"/>
          </a:p>
          <a:p>
            <a:r>
              <a:rPr lang="hu-HU" dirty="0" err="1"/>
              <a:t>Wireless</a:t>
            </a:r>
            <a:r>
              <a:rPr lang="hu-HU" dirty="0"/>
              <a:t> </a:t>
            </a:r>
            <a:r>
              <a:rPr lang="hu-HU" dirty="0" err="1"/>
              <a:t>Security</a:t>
            </a:r>
            <a:r>
              <a:rPr lang="hu-HU" dirty="0"/>
              <a:t>: </a:t>
            </a:r>
            <a:r>
              <a:rPr lang="hu-HU" dirty="0" smtClean="0"/>
              <a:t>WPA2 </a:t>
            </a:r>
            <a:r>
              <a:rPr lang="hu-HU" dirty="0" err="1" smtClean="0"/>
              <a:t>Personal</a:t>
            </a:r>
            <a:endParaRPr lang="hu-HU" dirty="0"/>
          </a:p>
          <a:p>
            <a:r>
              <a:rPr lang="hu-HU" dirty="0" err="1"/>
              <a:t>Security</a:t>
            </a:r>
            <a:r>
              <a:rPr lang="hu-HU" dirty="0"/>
              <a:t> </a:t>
            </a:r>
            <a:r>
              <a:rPr lang="hu-HU" dirty="0" err="1"/>
              <a:t>Encryption</a:t>
            </a:r>
            <a:r>
              <a:rPr lang="hu-HU" dirty="0"/>
              <a:t>: AES</a:t>
            </a:r>
          </a:p>
          <a:p>
            <a:r>
              <a:rPr lang="hu-HU" dirty="0" err="1" smtClean="0"/>
              <a:t>Passphrase</a:t>
            </a:r>
            <a:r>
              <a:rPr lang="hu-HU" dirty="0" smtClean="0"/>
              <a:t>: AdminPassword123</a:t>
            </a:r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9" y="2126475"/>
            <a:ext cx="6306430" cy="2010056"/>
          </a:xfrm>
          <a:prstGeom prst="rect">
            <a:avLst/>
          </a:prstGeom>
        </p:spPr>
      </p:pic>
      <p:pic>
        <p:nvPicPr>
          <p:cNvPr id="6" name="Kép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4" y="4136531"/>
            <a:ext cx="6344535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823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Wifi</a:t>
            </a:r>
            <a:r>
              <a:rPr lang="hu-HU" dirty="0" smtClean="0"/>
              <a:t> Közeg (WR2)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hu-HU" dirty="0" smtClean="0"/>
              <a:t>Valamint itt lesz a HTTP3-nak egy PAT készítve, aminek segítségével kívülről is elérhető lesz a szerverünk kizárólag HTTP </a:t>
            </a:r>
            <a:r>
              <a:rPr lang="hu-HU" dirty="0" err="1" smtClean="0"/>
              <a:t>protokolon</a:t>
            </a:r>
            <a:r>
              <a:rPr lang="hu-HU" dirty="0" smtClean="0"/>
              <a:t> keresztül (Port: 80)</a:t>
            </a: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9273" y="3352379"/>
            <a:ext cx="6315956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6648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Tűzfal Közeg Topológiája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009" y="2336873"/>
            <a:ext cx="6868484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3197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Tűzfal Közeg (ASA)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80321" y="2336872"/>
            <a:ext cx="9613861" cy="45211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 smtClean="0"/>
              <a:t>ASA Tűzfal eszközön 3 különböző hálózatot konfiguráltunk, 3 különböző prioritás </a:t>
            </a:r>
            <a:r>
              <a:rPr lang="hu-HU" dirty="0" err="1" smtClean="0"/>
              <a:t>szintel</a:t>
            </a:r>
            <a:r>
              <a:rPr lang="hu-HU" dirty="0"/>
              <a:t>:</a:t>
            </a:r>
            <a:endParaRPr lang="hu-HU" dirty="0" smtClean="0"/>
          </a:p>
          <a:p>
            <a:r>
              <a:rPr lang="hu-HU" dirty="0" smtClean="0"/>
              <a:t>GIG1/1: OUTSIDE, </a:t>
            </a:r>
            <a:r>
              <a:rPr lang="hu-HU" dirty="0" err="1" smtClean="0"/>
              <a:t>security-level</a:t>
            </a:r>
            <a:r>
              <a:rPr lang="hu-HU" dirty="0"/>
              <a:t> </a:t>
            </a:r>
            <a:r>
              <a:rPr lang="hu-HU" dirty="0" smtClean="0"/>
              <a:t>0</a:t>
            </a:r>
          </a:p>
          <a:p>
            <a:r>
              <a:rPr lang="hu-HU" dirty="0" smtClean="0"/>
              <a:t>GIG1/2: INSIDE, </a:t>
            </a:r>
            <a:r>
              <a:rPr lang="hu-HU" dirty="0" err="1" smtClean="0"/>
              <a:t>security-level</a:t>
            </a:r>
            <a:r>
              <a:rPr lang="hu-HU" dirty="0" smtClean="0"/>
              <a:t> 50</a:t>
            </a:r>
          </a:p>
          <a:p>
            <a:r>
              <a:rPr lang="hu-HU" dirty="0" smtClean="0"/>
              <a:t>GIG1/3: ADMIN, </a:t>
            </a:r>
            <a:r>
              <a:rPr lang="hu-HU" dirty="0" err="1" smtClean="0"/>
              <a:t>security-level</a:t>
            </a:r>
            <a:r>
              <a:rPr lang="hu-HU" dirty="0" smtClean="0"/>
              <a:t> 100</a:t>
            </a:r>
          </a:p>
          <a:p>
            <a:endParaRPr lang="hu-HU" dirty="0"/>
          </a:p>
          <a:p>
            <a:pPr marL="0" indent="0">
              <a:buNone/>
            </a:pPr>
            <a:r>
              <a:rPr lang="hu-HU" dirty="0" smtClean="0"/>
              <a:t>Valamint itt is alkalmaztunk PAT/NAT-</a:t>
            </a:r>
            <a:r>
              <a:rPr lang="hu-HU" dirty="0" err="1" smtClean="0"/>
              <a:t>ot</a:t>
            </a:r>
            <a:r>
              <a:rPr lang="hu-HU" dirty="0" smtClean="0"/>
              <a:t>.</a:t>
            </a:r>
            <a:br>
              <a:rPr lang="hu-HU" dirty="0" smtClean="0"/>
            </a:br>
            <a:r>
              <a:rPr lang="hu-HU" dirty="0" smtClean="0"/>
              <a:t> Az ADMIN eszközeit statikus címre </a:t>
            </a:r>
            <a:r>
              <a:rPr lang="hu-HU" dirty="0" err="1" smtClean="0"/>
              <a:t>natoltuk</a:t>
            </a:r>
            <a:r>
              <a:rPr lang="hu-HU" dirty="0" smtClean="0"/>
              <a:t>,</a:t>
            </a:r>
            <a:br>
              <a:rPr lang="hu-HU" dirty="0" smtClean="0"/>
            </a:br>
            <a:r>
              <a:rPr lang="hu-HU" dirty="0" smtClean="0"/>
              <a:t> az INSIDE eszközeit hálózat szinten </a:t>
            </a:r>
            <a:r>
              <a:rPr lang="hu-HU" dirty="0" err="1" smtClean="0"/>
              <a:t>PAToltuk</a:t>
            </a:r>
            <a:r>
              <a:rPr lang="hu-HU" dirty="0" smtClean="0"/>
              <a:t> ki.</a:t>
            </a:r>
            <a:br>
              <a:rPr lang="hu-HU" dirty="0" smtClean="0"/>
            </a:br>
            <a:r>
              <a:rPr lang="hu-HU" dirty="0" smtClean="0"/>
              <a:t>Alkalmaztunk statikus forgalomirányítást</a:t>
            </a:r>
            <a:br>
              <a:rPr lang="hu-HU" dirty="0" smtClean="0"/>
            </a:br>
            <a:r>
              <a:rPr lang="hu-HU" dirty="0" smtClean="0"/>
              <a:t>OUTSIDE fele.</a:t>
            </a: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572" y="2807163"/>
            <a:ext cx="2791215" cy="1914792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112" y="5037397"/>
            <a:ext cx="2695951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8714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Tűzfal Közeg (ASA)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" y="1992924"/>
            <a:ext cx="6409188" cy="48650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hu-HU" dirty="0" smtClean="0"/>
              <a:t>Valamint itt alkalmaztunk ACL-</a:t>
            </a:r>
            <a:r>
              <a:rPr lang="hu-HU" dirty="0" err="1" smtClean="0"/>
              <a:t>eket</a:t>
            </a:r>
            <a:r>
              <a:rPr lang="hu-HU" dirty="0" smtClean="0"/>
              <a:t> is. Beengedtük a DNS szervert, hogy használható legyen, valamint a HTTP szerverünket kiengedtük, hogy belső hálózaton kívül is ellehessen érni IP cím alapján is, és DNS által generált URL cím alapján is. Konfiguráltunk egy SSH-t is, hogy az ADMIN laptop beletudjon nézni az ASA felületére, amennyiben ez szükséges lenne. És végül konfiguráltunk egy </a:t>
            </a:r>
            <a:r>
              <a:rPr lang="hu-HU" dirty="0" err="1" smtClean="0"/>
              <a:t>DHCPd</a:t>
            </a:r>
            <a:r>
              <a:rPr lang="hu-HU" dirty="0" smtClean="0"/>
              <a:t>-t is, hogy az eszközök kapjanak automatikusan címet.</a:t>
            </a: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189" y="1992924"/>
            <a:ext cx="4629796" cy="943107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8400" y="3003796"/>
            <a:ext cx="3391373" cy="447737"/>
          </a:xfrm>
          <a:prstGeom prst="rect">
            <a:avLst/>
          </a:prstGeom>
        </p:spPr>
      </p:pic>
      <p:pic>
        <p:nvPicPr>
          <p:cNvPr id="6" name="Kép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8979" y="3519298"/>
            <a:ext cx="2610214" cy="419158"/>
          </a:xfrm>
          <a:prstGeom prst="rect">
            <a:avLst/>
          </a:prstGeom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1294" y="4006221"/>
            <a:ext cx="3105583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0974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Internet Közeg Topológiája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067" y="2336873"/>
            <a:ext cx="4391638" cy="417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7702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Internet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80321" y="2336873"/>
            <a:ext cx="9613861" cy="393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 smtClean="0"/>
              <a:t>Internet közegben 4 szerverünk van.</a:t>
            </a:r>
          </a:p>
          <a:p>
            <a:r>
              <a:rPr lang="hu-HU" dirty="0" smtClean="0"/>
              <a:t>HTTP1</a:t>
            </a:r>
          </a:p>
          <a:p>
            <a:r>
              <a:rPr lang="hu-HU" dirty="0" smtClean="0"/>
              <a:t>HTTP2</a:t>
            </a:r>
          </a:p>
          <a:p>
            <a:r>
              <a:rPr lang="hu-HU" dirty="0" smtClean="0"/>
              <a:t>DNS</a:t>
            </a:r>
          </a:p>
          <a:p>
            <a:r>
              <a:rPr lang="hu-HU" dirty="0" err="1" smtClean="0"/>
              <a:t>Radius</a:t>
            </a:r>
            <a:endParaRPr lang="hu-HU" dirty="0" smtClean="0"/>
          </a:p>
          <a:p>
            <a:pPr marL="0" indent="0">
              <a:buNone/>
            </a:pPr>
            <a:r>
              <a:rPr lang="hu-HU" dirty="0" smtClean="0"/>
              <a:t>Ezeket a szervereket külön-külön mutatjuk be és mondjuk el, hogy melyiknek mi a szerepe. A </a:t>
            </a:r>
            <a:r>
              <a:rPr lang="hu-HU" dirty="0" err="1" smtClean="0"/>
              <a:t>routeren</a:t>
            </a:r>
            <a:r>
              <a:rPr lang="hu-HU" dirty="0" smtClean="0"/>
              <a:t> NAT segítségével mint a 4 szervernek adtunk külső IP címeket (ezért volt szükség itt a /28-as hálózatra).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9761780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Internet </a:t>
            </a:r>
            <a:r>
              <a:rPr lang="hu-HU" dirty="0" err="1" smtClean="0"/>
              <a:t>Router</a:t>
            </a:r>
            <a:r>
              <a:rPr lang="hu-HU" dirty="0" smtClean="0"/>
              <a:t> (IR)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529345" y="1992925"/>
            <a:ext cx="9613861" cy="3599316"/>
          </a:xfrm>
        </p:spPr>
        <p:txBody>
          <a:bodyPr/>
          <a:lstStyle/>
          <a:p>
            <a:pPr marL="0" indent="0">
              <a:buNone/>
            </a:pPr>
            <a:r>
              <a:rPr lang="hu-HU" dirty="0" smtClean="0"/>
              <a:t>Itt a G0/0 lesz a belső (LAN) hálózat </a:t>
            </a:r>
            <a:r>
              <a:rPr lang="hu-HU" dirty="0" err="1" smtClean="0"/>
              <a:t>portja</a:t>
            </a:r>
            <a:r>
              <a:rPr lang="hu-HU" dirty="0" smtClean="0"/>
              <a:t>, valamint S0/0/0 lesz a külső </a:t>
            </a:r>
            <a:r>
              <a:rPr lang="hu-HU" dirty="0" err="1" smtClean="0"/>
              <a:t>portunk</a:t>
            </a:r>
            <a:r>
              <a:rPr lang="hu-HU" dirty="0" smtClean="0"/>
              <a:t>. Itt alkalmaztunk IPv4-et és IPv6-ot is, ennek köszönhetően van EIGRP illetve OSPFv6 </a:t>
            </a:r>
            <a:r>
              <a:rPr lang="hu-HU" dirty="0" err="1" smtClean="0"/>
              <a:t>konfigurációnk</a:t>
            </a:r>
            <a:r>
              <a:rPr lang="hu-HU" dirty="0" smtClean="0"/>
              <a:t> is. NAT-</a:t>
            </a:r>
            <a:r>
              <a:rPr lang="hu-HU" dirty="0" err="1" smtClean="0"/>
              <a:t>al</a:t>
            </a:r>
            <a:r>
              <a:rPr lang="hu-HU" dirty="0" smtClean="0"/>
              <a:t> adtunk az összes eszköznek állandó külső címet, hogy akadálymentes legyen a kommunikáció.</a:t>
            </a: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345" y="3772656"/>
            <a:ext cx="2562583" cy="1267002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0721" y="3772656"/>
            <a:ext cx="2391109" cy="819264"/>
          </a:xfrm>
          <a:prstGeom prst="rect">
            <a:avLst/>
          </a:prstGeom>
        </p:spPr>
      </p:pic>
      <p:pic>
        <p:nvPicPr>
          <p:cNvPr id="6" name="Kép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0623" y="3772656"/>
            <a:ext cx="2562583" cy="1095528"/>
          </a:xfrm>
          <a:prstGeom prst="rect">
            <a:avLst/>
          </a:prstGeom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1562" y="4750679"/>
            <a:ext cx="3229426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4734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Szerverek (HTTP1(Internet))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80321" y="2336873"/>
            <a:ext cx="5267473" cy="3599316"/>
          </a:xfrm>
        </p:spPr>
        <p:txBody>
          <a:bodyPr/>
          <a:lstStyle/>
          <a:p>
            <a:pPr marL="0" indent="0">
              <a:buNone/>
            </a:pPr>
            <a:r>
              <a:rPr lang="hu-HU" dirty="0" smtClean="0"/>
              <a:t>Belső IPv4 </a:t>
            </a:r>
            <a:r>
              <a:rPr lang="hu-HU" dirty="0"/>
              <a:t>Címe: </a:t>
            </a:r>
            <a:r>
              <a:rPr lang="hu-HU" dirty="0" smtClean="0"/>
              <a:t>192.168.0.4/24</a:t>
            </a:r>
            <a:br>
              <a:rPr lang="hu-HU" dirty="0" smtClean="0"/>
            </a:br>
            <a:r>
              <a:rPr lang="hu-HU" dirty="0" smtClean="0"/>
              <a:t>Külső IPv4 Címe: 8.8.4.5/28</a:t>
            </a:r>
            <a:br>
              <a:rPr lang="hu-HU" dirty="0" smtClean="0"/>
            </a:br>
            <a:r>
              <a:rPr lang="hu-HU" dirty="0" smtClean="0"/>
              <a:t>IPv6 Címe: 2001:4860:4860::4444/64</a:t>
            </a:r>
            <a:endParaRPr lang="hu-HU" dirty="0"/>
          </a:p>
          <a:p>
            <a:pPr marL="0" indent="0">
              <a:buNone/>
            </a:pPr>
            <a:r>
              <a:rPr lang="hu-HU" dirty="0" smtClean="0"/>
              <a:t>Az index.html-t a</a:t>
            </a:r>
            <a:br>
              <a:rPr lang="hu-HU" dirty="0" smtClean="0"/>
            </a:br>
            <a:r>
              <a:rPr lang="hu-HU" dirty="0" smtClean="0"/>
              <a:t>következőre</a:t>
            </a:r>
            <a:r>
              <a:rPr lang="hu-HU" dirty="0"/>
              <a:t/>
            </a:r>
            <a:br>
              <a:rPr lang="hu-HU" dirty="0"/>
            </a:br>
            <a:r>
              <a:rPr lang="hu-HU" dirty="0" smtClean="0"/>
              <a:t>módosítottam:</a:t>
            </a: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256" y="3945082"/>
            <a:ext cx="1559027" cy="2912918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7107" y="3513411"/>
            <a:ext cx="6239746" cy="3153215"/>
          </a:xfrm>
          <a:prstGeom prst="rect">
            <a:avLst/>
          </a:prstGeom>
        </p:spPr>
      </p:pic>
      <p:sp>
        <p:nvSpPr>
          <p:cNvPr id="6" name="Szövegdoboz 5"/>
          <p:cNvSpPr txBox="1"/>
          <p:nvPr/>
        </p:nvSpPr>
        <p:spPr>
          <a:xfrm>
            <a:off x="6706016" y="2867080"/>
            <a:ext cx="4601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HTTP1 szerver elérése DNS szerver által generált URL segítéségével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5617033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Szerverek (</a:t>
            </a:r>
            <a:r>
              <a:rPr lang="hu-HU" dirty="0" smtClean="0"/>
              <a:t>HTTP2(Internet</a:t>
            </a:r>
            <a:r>
              <a:rPr lang="hu-HU" dirty="0"/>
              <a:t>))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80321" y="2336873"/>
            <a:ext cx="5387193" cy="3599316"/>
          </a:xfrm>
        </p:spPr>
        <p:txBody>
          <a:bodyPr/>
          <a:lstStyle/>
          <a:p>
            <a:pPr marL="0" indent="0">
              <a:buNone/>
            </a:pPr>
            <a:r>
              <a:rPr lang="hu-HU" dirty="0"/>
              <a:t>Belső IPv4 Címe: </a:t>
            </a:r>
            <a:r>
              <a:rPr lang="hu-HU" dirty="0" smtClean="0"/>
              <a:t>192.168.0.2/24</a:t>
            </a:r>
            <a:r>
              <a:rPr lang="hu-HU" dirty="0"/>
              <a:t/>
            </a:r>
            <a:br>
              <a:rPr lang="hu-HU" dirty="0"/>
            </a:br>
            <a:r>
              <a:rPr lang="hu-HU" dirty="0"/>
              <a:t>Külső IPv4 Címe: </a:t>
            </a:r>
            <a:r>
              <a:rPr lang="hu-HU" dirty="0" smtClean="0"/>
              <a:t>8.8.4.3/28</a:t>
            </a:r>
            <a:r>
              <a:rPr lang="hu-HU" dirty="0"/>
              <a:t/>
            </a:r>
            <a:br>
              <a:rPr lang="hu-HU" dirty="0"/>
            </a:br>
            <a:r>
              <a:rPr lang="hu-HU" dirty="0"/>
              <a:t>IPv6 Címe: 2001:4860:4860</a:t>
            </a:r>
            <a:r>
              <a:rPr lang="hu-HU" dirty="0" smtClean="0"/>
              <a:t>::2222/64</a:t>
            </a:r>
            <a:endParaRPr lang="hu-HU" dirty="0"/>
          </a:p>
          <a:p>
            <a:pPr marL="0" indent="0">
              <a:buNone/>
            </a:pPr>
            <a:r>
              <a:rPr lang="hu-HU" dirty="0"/>
              <a:t>Az index.html-t a</a:t>
            </a:r>
            <a:br>
              <a:rPr lang="hu-HU" dirty="0"/>
            </a:br>
            <a:r>
              <a:rPr lang="hu-HU" dirty="0"/>
              <a:t>következőre</a:t>
            </a:r>
            <a:br>
              <a:rPr lang="hu-HU" dirty="0"/>
            </a:br>
            <a:r>
              <a:rPr lang="hu-HU" dirty="0"/>
              <a:t>módosítottam:</a:t>
            </a:r>
          </a:p>
          <a:p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626" y="3853887"/>
            <a:ext cx="1528675" cy="3004113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934" y="3322948"/>
            <a:ext cx="6249272" cy="3372321"/>
          </a:xfrm>
          <a:prstGeom prst="rect">
            <a:avLst/>
          </a:prstGeom>
        </p:spPr>
      </p:pic>
      <p:sp>
        <p:nvSpPr>
          <p:cNvPr id="6" name="Szövegdoboz 5"/>
          <p:cNvSpPr txBox="1"/>
          <p:nvPr/>
        </p:nvSpPr>
        <p:spPr>
          <a:xfrm>
            <a:off x="6596030" y="2723528"/>
            <a:ext cx="48110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HTTP2 </a:t>
            </a:r>
            <a:r>
              <a:rPr lang="hu-HU" dirty="0"/>
              <a:t>szerver elérése DNS szerver által generált URL segítéségével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4091504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Szerverek (HTTP3(</a:t>
            </a:r>
            <a:r>
              <a:rPr lang="hu-HU" dirty="0" err="1" smtClean="0"/>
              <a:t>Wifi</a:t>
            </a:r>
            <a:r>
              <a:rPr lang="hu-HU" dirty="0" smtClean="0"/>
              <a:t>))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80321" y="2336873"/>
            <a:ext cx="5144435" cy="3599316"/>
          </a:xfrm>
        </p:spPr>
        <p:txBody>
          <a:bodyPr/>
          <a:lstStyle/>
          <a:p>
            <a:pPr marL="0" indent="0">
              <a:buNone/>
            </a:pPr>
            <a:r>
              <a:rPr lang="hu-HU" dirty="0"/>
              <a:t>Belső IPv4 Címe: </a:t>
            </a:r>
            <a:r>
              <a:rPr lang="hu-HU" dirty="0" smtClean="0"/>
              <a:t>192.168.100.20/24</a:t>
            </a:r>
            <a:r>
              <a:rPr lang="hu-HU" dirty="0"/>
              <a:t/>
            </a:r>
            <a:br>
              <a:rPr lang="hu-HU" dirty="0"/>
            </a:br>
            <a:r>
              <a:rPr lang="hu-HU" dirty="0"/>
              <a:t>Külső IPv4 Címe: </a:t>
            </a:r>
            <a:r>
              <a:rPr lang="hu-HU" dirty="0" smtClean="0"/>
              <a:t>5.0.0.6:80</a:t>
            </a:r>
            <a:r>
              <a:rPr lang="hu-HU" dirty="0"/>
              <a:t/>
            </a:r>
            <a:br>
              <a:rPr lang="hu-HU" dirty="0"/>
            </a:br>
            <a:r>
              <a:rPr lang="hu-HU" dirty="0"/>
              <a:t>IPv6 Címe</a:t>
            </a:r>
            <a:r>
              <a:rPr lang="hu-HU" dirty="0" smtClean="0"/>
              <a:t>: Nincs</a:t>
            </a:r>
            <a:endParaRPr lang="hu-HU" dirty="0"/>
          </a:p>
          <a:p>
            <a:pPr marL="0" indent="0">
              <a:buNone/>
            </a:pPr>
            <a:r>
              <a:rPr lang="hu-HU" dirty="0"/>
              <a:t>Az index.html-t a</a:t>
            </a:r>
            <a:br>
              <a:rPr lang="hu-HU" dirty="0"/>
            </a:br>
            <a:r>
              <a:rPr lang="hu-HU" dirty="0"/>
              <a:t>következőre</a:t>
            </a:r>
            <a:br>
              <a:rPr lang="hu-HU" dirty="0"/>
            </a:br>
            <a:r>
              <a:rPr lang="hu-HU" dirty="0"/>
              <a:t>módosítottam:</a:t>
            </a:r>
          </a:p>
          <a:p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758" y="3370303"/>
            <a:ext cx="6230219" cy="3372321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335" y="3859227"/>
            <a:ext cx="1419965" cy="2883397"/>
          </a:xfrm>
          <a:prstGeom prst="rect">
            <a:avLst/>
          </a:prstGeom>
        </p:spPr>
      </p:pic>
      <p:sp>
        <p:nvSpPr>
          <p:cNvPr id="6" name="Szövegdoboz 5"/>
          <p:cNvSpPr txBox="1"/>
          <p:nvPr/>
        </p:nvSpPr>
        <p:spPr>
          <a:xfrm>
            <a:off x="6487678" y="2785145"/>
            <a:ext cx="49043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HTTP3 </a:t>
            </a:r>
            <a:r>
              <a:rPr lang="hu-HU" dirty="0"/>
              <a:t>szerver elérése DNS szerver által generált URL segítéségével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6716739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Szerverek (</a:t>
            </a:r>
            <a:r>
              <a:rPr lang="hu-HU" dirty="0" smtClean="0"/>
              <a:t>HTTP4(Tűzfal))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80321" y="2336873"/>
            <a:ext cx="4889969" cy="3599316"/>
          </a:xfrm>
        </p:spPr>
        <p:txBody>
          <a:bodyPr/>
          <a:lstStyle/>
          <a:p>
            <a:pPr marL="0" indent="0">
              <a:buNone/>
            </a:pPr>
            <a:r>
              <a:rPr lang="hu-HU" dirty="0"/>
              <a:t>Belső IPv4 Címe: </a:t>
            </a:r>
            <a:r>
              <a:rPr lang="hu-HU" dirty="0" smtClean="0"/>
              <a:t>172.16.0.160/25</a:t>
            </a:r>
            <a:r>
              <a:rPr lang="hu-HU" dirty="0"/>
              <a:t/>
            </a:r>
            <a:br>
              <a:rPr lang="hu-HU" dirty="0"/>
            </a:br>
            <a:r>
              <a:rPr lang="hu-HU" dirty="0"/>
              <a:t>Külső IPv4 Címe: </a:t>
            </a:r>
            <a:r>
              <a:rPr lang="hu-HU" dirty="0" smtClean="0"/>
              <a:t>1.2.3.4/29</a:t>
            </a:r>
            <a:r>
              <a:rPr lang="hu-HU" dirty="0"/>
              <a:t/>
            </a:r>
            <a:br>
              <a:rPr lang="hu-HU" dirty="0"/>
            </a:br>
            <a:r>
              <a:rPr lang="hu-HU" dirty="0"/>
              <a:t>IPv6 Címe: Nincs</a:t>
            </a:r>
          </a:p>
          <a:p>
            <a:pPr marL="0" indent="0">
              <a:buNone/>
            </a:pPr>
            <a:r>
              <a:rPr lang="hu-HU" dirty="0"/>
              <a:t>Az index.html-t a</a:t>
            </a:r>
            <a:br>
              <a:rPr lang="hu-HU" dirty="0"/>
            </a:br>
            <a:r>
              <a:rPr lang="hu-HU" dirty="0"/>
              <a:t>következőre</a:t>
            </a:r>
            <a:br>
              <a:rPr lang="hu-HU" dirty="0"/>
            </a:br>
            <a:r>
              <a:rPr lang="hu-HU" dirty="0"/>
              <a:t>módosítottam:</a:t>
            </a:r>
          </a:p>
          <a:p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236" y="3898743"/>
            <a:ext cx="1460708" cy="2959257"/>
          </a:xfrm>
          <a:prstGeom prst="rect">
            <a:avLst/>
          </a:prstGeom>
        </p:spPr>
      </p:pic>
      <p:sp>
        <p:nvSpPr>
          <p:cNvPr id="5" name="Szövegdoboz 4"/>
          <p:cNvSpPr txBox="1"/>
          <p:nvPr/>
        </p:nvSpPr>
        <p:spPr>
          <a:xfrm>
            <a:off x="6467911" y="2583809"/>
            <a:ext cx="50723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 smtClean="0"/>
              <a:t>HTTP4 </a:t>
            </a:r>
            <a:r>
              <a:rPr lang="hu-HU" dirty="0"/>
              <a:t>szerver elérése DNS szerver által generált URL segítéségével</a:t>
            </a:r>
          </a:p>
          <a:p>
            <a:endParaRPr lang="hu-HU" dirty="0"/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3730" y="3255055"/>
            <a:ext cx="6220693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8892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Szerverek </a:t>
            </a:r>
            <a:r>
              <a:rPr lang="hu-HU" dirty="0" smtClean="0"/>
              <a:t>(</a:t>
            </a:r>
            <a:r>
              <a:rPr lang="hu-HU" dirty="0" err="1" smtClean="0"/>
              <a:t>Radius</a:t>
            </a:r>
            <a:r>
              <a:rPr lang="hu-HU" dirty="0" smtClean="0"/>
              <a:t>(Internet))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35561" y="1996580"/>
            <a:ext cx="6506814" cy="486142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u-HU" dirty="0"/>
              <a:t>Belső IPv4 Címe: </a:t>
            </a:r>
            <a:r>
              <a:rPr lang="hu-HU" dirty="0" smtClean="0"/>
              <a:t>192.168.0.5/24</a:t>
            </a:r>
            <a:r>
              <a:rPr lang="hu-HU" dirty="0"/>
              <a:t/>
            </a:r>
            <a:br>
              <a:rPr lang="hu-HU" dirty="0"/>
            </a:br>
            <a:r>
              <a:rPr lang="hu-HU" dirty="0"/>
              <a:t>Külső IPv4 Címe: </a:t>
            </a:r>
            <a:r>
              <a:rPr lang="hu-HU" dirty="0" smtClean="0"/>
              <a:t>8.8.4.6/28</a:t>
            </a:r>
            <a:r>
              <a:rPr lang="hu-HU" dirty="0"/>
              <a:t/>
            </a:r>
            <a:br>
              <a:rPr lang="hu-HU" dirty="0"/>
            </a:br>
            <a:r>
              <a:rPr lang="hu-HU" dirty="0"/>
              <a:t>IPv6 Címe: </a:t>
            </a:r>
            <a:r>
              <a:rPr lang="hu-HU" dirty="0" smtClean="0"/>
              <a:t>2001:4860:4860::6666/64</a:t>
            </a:r>
            <a:endParaRPr lang="hu-HU" dirty="0"/>
          </a:p>
          <a:p>
            <a:pPr marL="0" indent="0">
              <a:buNone/>
            </a:pPr>
            <a:r>
              <a:rPr lang="hu-HU" dirty="0" smtClean="0"/>
              <a:t/>
            </a:r>
            <a:br>
              <a:rPr lang="hu-HU" dirty="0" smtClean="0"/>
            </a:br>
            <a:r>
              <a:rPr lang="hu-HU" dirty="0" smtClean="0"/>
              <a:t>A </a:t>
            </a:r>
            <a:r>
              <a:rPr lang="hu-HU" dirty="0" err="1" smtClean="0"/>
              <a:t>Radius</a:t>
            </a:r>
            <a:r>
              <a:rPr lang="hu-HU" dirty="0" smtClean="0"/>
              <a:t> szerveren bekapcsoltuk az AAA szolgáltatást, itt csináltunk a WR1 Soho </a:t>
            </a:r>
            <a:r>
              <a:rPr lang="hu-HU" dirty="0" err="1" smtClean="0"/>
              <a:t>routerünknek</a:t>
            </a:r>
            <a:r>
              <a:rPr lang="hu-HU" dirty="0" smtClean="0"/>
              <a:t> egy konfigurációt</a:t>
            </a:r>
            <a:br>
              <a:rPr lang="hu-HU" dirty="0" smtClean="0"/>
            </a:br>
            <a:r>
              <a:rPr lang="hu-HU" dirty="0" smtClean="0"/>
              <a:t>Név: WR1</a:t>
            </a:r>
            <a:br>
              <a:rPr lang="hu-HU" dirty="0" smtClean="0"/>
            </a:br>
            <a:r>
              <a:rPr lang="hu-HU" dirty="0" err="1" smtClean="0"/>
              <a:t>Client</a:t>
            </a:r>
            <a:r>
              <a:rPr lang="hu-HU" dirty="0" smtClean="0"/>
              <a:t> IP: 5.0.0.10</a:t>
            </a:r>
            <a:br>
              <a:rPr lang="hu-HU" dirty="0" smtClean="0"/>
            </a:br>
            <a:r>
              <a:rPr lang="hu-HU" dirty="0" smtClean="0"/>
              <a:t>Server </a:t>
            </a:r>
            <a:r>
              <a:rPr lang="hu-HU" dirty="0" err="1" smtClean="0"/>
              <a:t>Type</a:t>
            </a:r>
            <a:r>
              <a:rPr lang="hu-HU" dirty="0" smtClean="0"/>
              <a:t>: </a:t>
            </a:r>
            <a:r>
              <a:rPr lang="hu-HU" dirty="0" err="1" smtClean="0"/>
              <a:t>Radius</a:t>
            </a:r>
            <a:r>
              <a:rPr lang="hu-HU" dirty="0" smtClean="0"/>
              <a:t/>
            </a:r>
            <a:br>
              <a:rPr lang="hu-HU" dirty="0" smtClean="0"/>
            </a:br>
            <a:r>
              <a:rPr lang="hu-HU" dirty="0" smtClean="0"/>
              <a:t>Key: </a:t>
            </a:r>
            <a:r>
              <a:rPr lang="hu-HU" dirty="0" err="1" smtClean="0"/>
              <a:t>WifiQuest</a:t>
            </a:r>
            <a:endParaRPr lang="hu-HU" dirty="0" smtClean="0"/>
          </a:p>
          <a:p>
            <a:pPr marL="0" indent="0">
              <a:buNone/>
            </a:pPr>
            <a:r>
              <a:rPr lang="hu-HU" dirty="0" smtClean="0"/>
              <a:t>Valamint a kép alján látható 3 felhasználót.</a:t>
            </a:r>
          </a:p>
          <a:p>
            <a:pPr marL="0" indent="0">
              <a:buNone/>
            </a:pPr>
            <a:r>
              <a:rPr lang="hu-HU" dirty="0" smtClean="0"/>
              <a:t>Felhasználó: </a:t>
            </a:r>
            <a:r>
              <a:rPr lang="hu-HU" dirty="0" err="1" smtClean="0"/>
              <a:t>QuestX</a:t>
            </a:r>
            <a:endParaRPr lang="hu-HU" dirty="0" smtClean="0"/>
          </a:p>
          <a:p>
            <a:pPr marL="0" indent="0">
              <a:buNone/>
            </a:pPr>
            <a:r>
              <a:rPr lang="hu-HU" dirty="0" smtClean="0"/>
              <a:t>Jelszó: </a:t>
            </a:r>
            <a:r>
              <a:rPr lang="hu-HU" dirty="0" err="1" smtClean="0"/>
              <a:t>QuestX</a:t>
            </a:r>
            <a:endParaRPr lang="hu-HU" dirty="0" smtClean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374" y="1996579"/>
            <a:ext cx="4593021" cy="4794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1891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Szerverek (DNS(Internet))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80321" y="2249500"/>
            <a:ext cx="6530741" cy="3686689"/>
          </a:xfrm>
        </p:spPr>
        <p:txBody>
          <a:bodyPr/>
          <a:lstStyle/>
          <a:p>
            <a:pPr marL="0" indent="0">
              <a:buNone/>
            </a:pPr>
            <a:r>
              <a:rPr lang="hu-HU" dirty="0"/>
              <a:t>Belső IPv4 Címe: </a:t>
            </a:r>
            <a:r>
              <a:rPr lang="hu-HU" dirty="0" smtClean="0"/>
              <a:t>192.168.0.3/24</a:t>
            </a:r>
            <a:r>
              <a:rPr lang="hu-HU" dirty="0"/>
              <a:t/>
            </a:r>
            <a:br>
              <a:rPr lang="hu-HU" dirty="0"/>
            </a:br>
            <a:r>
              <a:rPr lang="hu-HU" dirty="0"/>
              <a:t>Külső IPv4 Címe: </a:t>
            </a:r>
            <a:r>
              <a:rPr lang="hu-HU" dirty="0" smtClean="0"/>
              <a:t>8.8.4.4/28</a:t>
            </a:r>
            <a:r>
              <a:rPr lang="hu-HU" dirty="0"/>
              <a:t/>
            </a:r>
            <a:br>
              <a:rPr lang="hu-HU" dirty="0"/>
            </a:br>
            <a:r>
              <a:rPr lang="hu-HU" dirty="0"/>
              <a:t>IPv6 Címe: 2001:4860:4860</a:t>
            </a:r>
            <a:r>
              <a:rPr lang="hu-HU" dirty="0" smtClean="0"/>
              <a:t>::8888/64</a:t>
            </a:r>
            <a:br>
              <a:rPr lang="hu-HU" dirty="0" smtClean="0"/>
            </a:br>
            <a:r>
              <a:rPr lang="hu-HU" dirty="0" smtClean="0"/>
              <a:t/>
            </a:r>
            <a:br>
              <a:rPr lang="hu-HU" dirty="0" smtClean="0"/>
            </a:br>
            <a:r>
              <a:rPr lang="hu-HU" dirty="0" smtClean="0"/>
              <a:t>Ez a szerver lesz az összes hálózat DNS szervere. Minden hálózat ezt a szervert használja </a:t>
            </a:r>
            <a:r>
              <a:rPr lang="hu-HU" dirty="0" err="1" smtClean="0"/>
              <a:t>Domainnek</a:t>
            </a:r>
            <a:r>
              <a:rPr lang="hu-HU" dirty="0" smtClean="0"/>
              <a:t>. A DNS szerveren konfiguráltunk DNS (A </a:t>
            </a:r>
            <a:r>
              <a:rPr lang="hu-HU" dirty="0" err="1" smtClean="0"/>
              <a:t>record</a:t>
            </a:r>
            <a:r>
              <a:rPr lang="hu-HU" dirty="0" smtClean="0"/>
              <a:t>) valamint a két szerverünknek, amik rendelkeznek IPv6 címmel DNS64 (AAAA </a:t>
            </a:r>
            <a:r>
              <a:rPr lang="hu-HU" dirty="0" err="1" smtClean="0"/>
              <a:t>record</a:t>
            </a:r>
            <a:r>
              <a:rPr lang="hu-HU" dirty="0" smtClean="0"/>
              <a:t>) rekordokat is.</a:t>
            </a:r>
            <a:endParaRPr lang="hu-HU" dirty="0"/>
          </a:p>
          <a:p>
            <a:pPr marL="0" indent="0">
              <a:buNone/>
            </a:pP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1062" y="2249500"/>
            <a:ext cx="4648849" cy="368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90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Szerverek (DNS(Internet)) tesztek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0" y="1942591"/>
            <a:ext cx="12191999" cy="3599316"/>
          </a:xfrm>
        </p:spPr>
        <p:txBody>
          <a:bodyPr/>
          <a:lstStyle/>
          <a:p>
            <a:pPr marL="0" indent="0" algn="ctr">
              <a:buNone/>
            </a:pPr>
            <a:r>
              <a:rPr lang="hu-HU" dirty="0" smtClean="0"/>
              <a:t>IPv4</a:t>
            </a: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39504"/>
            <a:ext cx="5980833" cy="3463521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167" y="2339504"/>
            <a:ext cx="5980833" cy="3475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7211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Szerverek (DNS(Internet)) tesztek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0" y="1992925"/>
            <a:ext cx="12192000" cy="3599316"/>
          </a:xfrm>
        </p:spPr>
        <p:txBody>
          <a:bodyPr/>
          <a:lstStyle/>
          <a:p>
            <a:pPr marL="0" indent="0" algn="ctr">
              <a:buNone/>
            </a:pPr>
            <a:r>
              <a:rPr lang="hu-HU" dirty="0" smtClean="0"/>
              <a:t>IPv4</a:t>
            </a:r>
            <a:endParaRPr lang="hu-HU" dirty="0"/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98980"/>
            <a:ext cx="5980833" cy="3475102"/>
          </a:xfrm>
          <a:prstGeom prst="rect">
            <a:avLst/>
          </a:prstGeom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167" y="2398980"/>
            <a:ext cx="5980833" cy="3475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4767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Szerverek (DNS(Internet)) tesztek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0" y="1984536"/>
            <a:ext cx="12192000" cy="3599316"/>
          </a:xfrm>
        </p:spPr>
        <p:txBody>
          <a:bodyPr/>
          <a:lstStyle/>
          <a:p>
            <a:pPr marL="0" indent="0" algn="ctr">
              <a:buNone/>
            </a:pPr>
            <a:r>
              <a:rPr lang="hu-HU" dirty="0" smtClean="0"/>
              <a:t>IPv6</a:t>
            </a: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98980"/>
            <a:ext cx="5980833" cy="3475102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167" y="2398980"/>
            <a:ext cx="5980833" cy="3475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5213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Linux </a:t>
            </a:r>
            <a:r>
              <a:rPr lang="hu-HU" smtClean="0"/>
              <a:t>DNS konfigurációja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 smtClean="0"/>
              <a:t>A Linux szerverre bekonfiguráltuk a 6 DNS címünket</a:t>
            </a:r>
          </a:p>
          <a:p>
            <a:r>
              <a:rPr lang="hu-HU" dirty="0" smtClean="0"/>
              <a:t>4 darab IPv4 (A RECORD) DNS</a:t>
            </a:r>
          </a:p>
          <a:p>
            <a:r>
              <a:rPr lang="hu-HU" dirty="0" smtClean="0"/>
              <a:t>2 darab IPv6 (AAAA RECORD) DNS</a:t>
            </a:r>
          </a:p>
          <a:p>
            <a:endParaRPr lang="hu-HU" dirty="0"/>
          </a:p>
          <a:p>
            <a:pPr marL="0" indent="0">
              <a:buNone/>
            </a:pPr>
            <a:r>
              <a:rPr lang="hu-HU" dirty="0" smtClean="0"/>
              <a:t>Szerverünknek adtunk egy IPv4 és IPv6 címet (a megadott paramétereink alapján).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5051046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Linux IP konfiguráció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Verzió:2, megadtuk a pontos port nevét,</a:t>
            </a:r>
            <a:br>
              <a:rPr lang="hu-HU" dirty="0" smtClean="0"/>
            </a:br>
            <a:r>
              <a:rPr lang="hu-HU" dirty="0" smtClean="0"/>
              <a:t>megadtuk az IPv4 és IPv6 címeket, valamint</a:t>
            </a:r>
            <a:r>
              <a:rPr lang="hu-HU" dirty="0"/>
              <a:t/>
            </a:r>
            <a:br>
              <a:rPr lang="hu-HU" dirty="0"/>
            </a:br>
            <a:r>
              <a:rPr lang="hu-HU" dirty="0" smtClean="0"/>
              <a:t>az alapértelmezett átjárót. DNS </a:t>
            </a:r>
            <a:r>
              <a:rPr lang="hu-HU" dirty="0" err="1" smtClean="0"/>
              <a:t>nameserverek</a:t>
            </a:r>
            <a:r>
              <a:rPr lang="hu-HU" dirty="0" smtClean="0"/>
              <a:t>-</a:t>
            </a:r>
            <a:br>
              <a:rPr lang="hu-HU" dirty="0" smtClean="0"/>
            </a:br>
            <a:r>
              <a:rPr lang="hu-HU" dirty="0" err="1" smtClean="0"/>
              <a:t>nek</a:t>
            </a:r>
            <a:r>
              <a:rPr lang="hu-HU" dirty="0" smtClean="0"/>
              <a:t> megadtuk a </a:t>
            </a:r>
            <a:r>
              <a:rPr lang="hu-HU" dirty="0" err="1" smtClean="0"/>
              <a:t>loopback</a:t>
            </a:r>
            <a:r>
              <a:rPr lang="hu-HU" dirty="0" smtClean="0"/>
              <a:t> címet, valamint a</a:t>
            </a:r>
            <a:br>
              <a:rPr lang="hu-HU" dirty="0" smtClean="0"/>
            </a:br>
            <a:r>
              <a:rPr lang="hu-HU" dirty="0" smtClean="0"/>
              <a:t>szerver saját címét is.</a:t>
            </a: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6" y="4091696"/>
            <a:ext cx="7754432" cy="1257475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9198" y="1976850"/>
            <a:ext cx="2676899" cy="337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0218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Linux DNS konfiguráció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15480" y="1992925"/>
            <a:ext cx="7676520" cy="2778809"/>
          </a:xfrm>
        </p:spPr>
        <p:txBody>
          <a:bodyPr/>
          <a:lstStyle/>
          <a:p>
            <a:r>
              <a:rPr lang="hu-HU" dirty="0" smtClean="0"/>
              <a:t>Itt pedig megadtuk a paramétereket, majd a DNS címeket, rekord típusokat és az IP címeket. Utána megadtuk a beállításainkat.</a:t>
            </a: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2925"/>
            <a:ext cx="4515480" cy="3772426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5480" y="3182277"/>
            <a:ext cx="3962953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7089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Linux DNS teszt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915" y="2422619"/>
            <a:ext cx="8084671" cy="342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6570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Windows szerver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 smtClean="0"/>
              <a:t>Windows szerverünknek a HTTP1 szervert csináltuk meg. Ez egy Windows 2012 R2 szerveren készült el.</a:t>
            </a:r>
          </a:p>
          <a:p>
            <a:pPr marL="0" indent="0">
              <a:buNone/>
            </a:pPr>
            <a:r>
              <a:rPr lang="hu-HU" dirty="0" smtClean="0"/>
              <a:t>IPv4 cím: 192.168.0.4/24</a:t>
            </a:r>
          </a:p>
          <a:p>
            <a:pPr marL="0" indent="0">
              <a:buNone/>
            </a:pPr>
            <a:r>
              <a:rPr lang="hu-HU" dirty="0" smtClean="0"/>
              <a:t>ROUTEv4: 192.168.0.1</a:t>
            </a:r>
          </a:p>
          <a:p>
            <a:pPr marL="0" indent="0">
              <a:buNone/>
            </a:pPr>
            <a:r>
              <a:rPr lang="hu-HU" dirty="0" smtClean="0"/>
              <a:t>IPv6 cím: 2001:4860:4860::4444/64</a:t>
            </a:r>
          </a:p>
          <a:p>
            <a:pPr marL="0" indent="0">
              <a:buNone/>
            </a:pPr>
            <a:r>
              <a:rPr lang="hu-HU" dirty="0" smtClean="0"/>
              <a:t>ROUTEv6: 2001:4860:4860::1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2419360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IP cím konfiguráció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 smtClean="0"/>
              <a:t>Két internetünk van:</a:t>
            </a:r>
            <a:br>
              <a:rPr lang="hu-HU" dirty="0" smtClean="0"/>
            </a:br>
            <a:r>
              <a:rPr lang="hu-HU" dirty="0" smtClean="0"/>
              <a:t>LAN: Belső hálózat (192.168.0.4)</a:t>
            </a:r>
            <a:br>
              <a:rPr lang="hu-HU" dirty="0" smtClean="0"/>
            </a:br>
            <a:r>
              <a:rPr lang="hu-HU" dirty="0" smtClean="0"/>
              <a:t>WAN: Kifele kommunikáció érdekében (DHCP)</a:t>
            </a:r>
          </a:p>
          <a:p>
            <a:pPr marL="0" indent="0">
              <a:buNone/>
            </a:pPr>
            <a:r>
              <a:rPr lang="hu-HU" dirty="0" smtClean="0"/>
              <a:t>Megadtuk az IP címeket, valamint az átjárókat</a:t>
            </a:r>
          </a:p>
          <a:p>
            <a:pPr marL="0" indent="0">
              <a:buNone/>
            </a:pPr>
            <a:endParaRPr lang="hu-HU" dirty="0" smtClean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307" y="2302258"/>
            <a:ext cx="4972744" cy="647790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4415" y="2950048"/>
            <a:ext cx="3305636" cy="292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5028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IIS Telepítés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 smtClean="0"/>
              <a:t>A kiszolgálókezelőben ide navigáltunk be:</a:t>
            </a:r>
          </a:p>
          <a:p>
            <a:pPr marL="457200" indent="-457200">
              <a:buFont typeface="+mj-lt"/>
              <a:buAutoNum type="arabicPeriod"/>
            </a:pPr>
            <a:r>
              <a:rPr lang="hu-HU" dirty="0" smtClean="0"/>
              <a:t>Kezelés</a:t>
            </a:r>
          </a:p>
          <a:p>
            <a:pPr marL="457200" indent="-457200">
              <a:buFont typeface="+mj-lt"/>
              <a:buAutoNum type="arabicPeriod"/>
            </a:pPr>
            <a:r>
              <a:rPr lang="hu-HU" dirty="0" smtClean="0"/>
              <a:t>Szerepkörök és szolgáltatások hozzáadása</a:t>
            </a:r>
          </a:p>
          <a:p>
            <a:pPr marL="457200" indent="-457200">
              <a:buFont typeface="+mj-lt"/>
              <a:buAutoNum type="arabicPeriod"/>
            </a:pPr>
            <a:r>
              <a:rPr lang="hu-HU" dirty="0" smtClean="0"/>
              <a:t>Kiszolgálói szerepkörök</a:t>
            </a:r>
          </a:p>
          <a:p>
            <a:pPr marL="457200" indent="-457200">
              <a:buFont typeface="+mj-lt"/>
              <a:buAutoNum type="arabicPeriod"/>
            </a:pPr>
            <a:r>
              <a:rPr lang="hu-HU" dirty="0" smtClean="0"/>
              <a:t>Bepipáljuk: Webkiszolgáló (IIS)</a:t>
            </a:r>
          </a:p>
          <a:p>
            <a:pPr marL="457200" indent="-457200">
              <a:buFont typeface="+mj-lt"/>
              <a:buAutoNum type="arabicPeriod"/>
            </a:pPr>
            <a:r>
              <a:rPr lang="hu-HU" dirty="0" smtClean="0"/>
              <a:t>Utána tovább végig és telepítés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52921981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IIS konfigurálása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hu-HU" dirty="0" smtClean="0"/>
              <a:t>A felügyeleti eszközökben megkeressük az IIS-t</a:t>
            </a:r>
          </a:p>
          <a:p>
            <a:pPr marL="457200" indent="-457200">
              <a:buFont typeface="+mj-lt"/>
              <a:buAutoNum type="arabicPeriod"/>
            </a:pPr>
            <a:r>
              <a:rPr lang="hu-HU" dirty="0" smtClean="0"/>
              <a:t>Bemegyünk a Helyek részlegbe, majd a </a:t>
            </a:r>
            <a:r>
              <a:rPr lang="hu-HU" dirty="0" err="1" smtClean="0"/>
              <a:t>Default</a:t>
            </a:r>
            <a:r>
              <a:rPr lang="hu-HU" dirty="0" smtClean="0"/>
              <a:t> Web Site-hoz</a:t>
            </a:r>
          </a:p>
          <a:p>
            <a:pPr marL="457200" indent="-457200">
              <a:buFont typeface="+mj-lt"/>
              <a:buAutoNum type="arabicPeriod"/>
            </a:pPr>
            <a:r>
              <a:rPr lang="hu-HU" dirty="0" smtClean="0"/>
              <a:t>Kötéseknél megadjuk a típust, állomásnevet, </a:t>
            </a:r>
            <a:r>
              <a:rPr lang="hu-HU" dirty="0" err="1" smtClean="0"/>
              <a:t>portot</a:t>
            </a:r>
            <a:r>
              <a:rPr lang="hu-HU" dirty="0" smtClean="0"/>
              <a:t> és </a:t>
            </a:r>
            <a:r>
              <a:rPr lang="hu-HU" dirty="0" err="1" smtClean="0"/>
              <a:t>ip</a:t>
            </a:r>
            <a:r>
              <a:rPr lang="hu-HU" dirty="0" smtClean="0"/>
              <a:t> címet</a:t>
            </a:r>
          </a:p>
          <a:p>
            <a:pPr marL="457200" indent="-457200">
              <a:buFont typeface="+mj-lt"/>
              <a:buAutoNum type="arabicPeriod"/>
            </a:pPr>
            <a:endParaRPr lang="hu-HU" dirty="0"/>
          </a:p>
          <a:p>
            <a:pPr marL="457200" indent="-457200">
              <a:buFont typeface="+mj-lt"/>
              <a:buAutoNum type="arabicPeriod"/>
            </a:pPr>
            <a:endParaRPr lang="hu-HU" dirty="0" smtClean="0"/>
          </a:p>
          <a:p>
            <a:pPr marL="457200" indent="-457200">
              <a:buFont typeface="+mj-lt"/>
              <a:buAutoNum type="arabicPeriod"/>
            </a:pPr>
            <a:r>
              <a:rPr lang="hu-HU" dirty="0" smtClean="0"/>
              <a:t>Ezután bemegyünk a C:\inetpub\wwwroot mappába és behelyezzük ide a .</a:t>
            </a:r>
            <a:r>
              <a:rPr lang="hu-HU" dirty="0" err="1" smtClean="0"/>
              <a:t>html</a:t>
            </a:r>
            <a:r>
              <a:rPr lang="hu-HU" dirty="0" smtClean="0"/>
              <a:t> </a:t>
            </a:r>
            <a:r>
              <a:rPr lang="hu-HU" dirty="0" err="1" smtClean="0"/>
              <a:t>fileunkat</a:t>
            </a:r>
            <a:r>
              <a:rPr lang="hu-HU" dirty="0" smtClean="0"/>
              <a:t> (jelen esetben index.html</a:t>
            </a: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1958" y="3645925"/>
            <a:ext cx="4010585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01204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IIS konfigurálása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80321" y="2336872"/>
            <a:ext cx="9613861" cy="4449821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hu-HU" dirty="0" smtClean="0"/>
              <a:t>Majd az alapértelmezett dokumentumba beírjuk az index.html-t</a:t>
            </a:r>
          </a:p>
          <a:p>
            <a:pPr marL="457200" indent="-457200">
              <a:buFont typeface="+mj-lt"/>
              <a:buAutoNum type="arabicPeriod" startAt="5"/>
            </a:pPr>
            <a:endParaRPr lang="hu-HU" dirty="0"/>
          </a:p>
          <a:p>
            <a:pPr marL="457200" indent="-457200">
              <a:buFont typeface="+mj-lt"/>
              <a:buAutoNum type="arabicPeriod" startAt="5"/>
            </a:pPr>
            <a:endParaRPr lang="hu-HU" dirty="0" smtClean="0"/>
          </a:p>
          <a:p>
            <a:pPr marL="457200" indent="-457200">
              <a:buFont typeface="+mj-lt"/>
              <a:buAutoNum type="arabicPeriod" startAt="5"/>
            </a:pPr>
            <a:endParaRPr lang="hu-HU" dirty="0"/>
          </a:p>
          <a:p>
            <a:pPr marL="457200" indent="-457200">
              <a:buFont typeface="+mj-lt"/>
              <a:buAutoNum type="arabicPeriod" startAt="5"/>
            </a:pPr>
            <a:r>
              <a:rPr lang="hu-HU" dirty="0" smtClean="0"/>
              <a:t>Ezután bemegyünk a tűzfalba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 smtClean="0"/>
              <a:t>Bejövő szabály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 smtClean="0"/>
              <a:t>Új szabály (bal fent)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 smtClean="0"/>
              <a:t>Port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 smtClean="0"/>
              <a:t>TCP és Port szám pedig 80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 smtClean="0"/>
              <a:t>„Engedélyezze a kapcsolatot”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 smtClean="0"/>
              <a:t>Minden tartomány legyen bepipálva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 smtClean="0"/>
              <a:t>Névnek meg beírjuk hogy HTTP</a:t>
            </a: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615" y="2667389"/>
            <a:ext cx="6249272" cy="130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3357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IIS konfigurálása és tesztje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7"/>
            </a:pPr>
            <a:r>
              <a:rPr lang="hu-HU" dirty="0" smtClean="0"/>
              <a:t>Végül a kimenő szabályba is megadjuk ugyanezeket.</a:t>
            </a:r>
          </a:p>
          <a:p>
            <a:pPr marL="457200" indent="-457200">
              <a:buFont typeface="+mj-lt"/>
              <a:buAutoNum type="arabicPeriod" startAt="7"/>
            </a:pPr>
            <a:r>
              <a:rPr lang="hu-HU" dirty="0" smtClean="0"/>
              <a:t>Ezután biztonság kedvéért CMD-be beírjuk hogy „</a:t>
            </a:r>
            <a:r>
              <a:rPr lang="hu-HU" dirty="0" err="1" smtClean="0"/>
              <a:t>iisreset</a:t>
            </a:r>
            <a:r>
              <a:rPr lang="hu-HU" dirty="0" smtClean="0"/>
              <a:t>”, hogy minden most megadott paraméter/szabály érvényes legyen</a:t>
            </a:r>
          </a:p>
          <a:p>
            <a:pPr marL="457200" indent="-457200">
              <a:buFont typeface="+mj-lt"/>
              <a:buAutoNum type="arabicPeriod" startAt="7"/>
            </a:pPr>
            <a:r>
              <a:rPr lang="hu-HU" dirty="0" smtClean="0"/>
              <a:t>Végül beírjuk a DNS címet vagy az IP címét a szervernek.</a:t>
            </a: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411" y="4175719"/>
            <a:ext cx="5209954" cy="2263177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505" y="4187929"/>
            <a:ext cx="5209954" cy="2250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296131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238</TotalTime>
  <Words>1782</Words>
  <Application>Microsoft Office PowerPoint</Application>
  <PresentationFormat>Szélesvásznú</PresentationFormat>
  <Paragraphs>421</Paragraphs>
  <Slides>52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52</vt:i4>
      </vt:variant>
    </vt:vector>
  </HeadingPairs>
  <TitlesOfParts>
    <vt:vector size="55" baseType="lpstr">
      <vt:lpstr>Arial</vt:lpstr>
      <vt:lpstr>Trebuchet MS</vt:lpstr>
      <vt:lpstr>Berlin</vt:lpstr>
      <vt:lpstr>Prezentáció</vt:lpstr>
      <vt:lpstr>Hálózati struktúra</vt:lpstr>
      <vt:lpstr>Hálózati struktúra</vt:lpstr>
      <vt:lpstr>IPv4 Címek</vt:lpstr>
      <vt:lpstr>IPv4 Címek (WAN kapcsolatok)</vt:lpstr>
      <vt:lpstr>IPv4 Címek (WAN kapcsolatok)</vt:lpstr>
      <vt:lpstr>IPv6 Címek</vt:lpstr>
      <vt:lpstr>IPv6 Címek (WAN kapcsolatok)</vt:lpstr>
      <vt:lpstr>Szerverek</vt:lpstr>
      <vt:lpstr> VLAN Közeg</vt:lpstr>
      <vt:lpstr>VLAN Topológia</vt:lpstr>
      <vt:lpstr>VLAN Router (R1)</vt:lpstr>
      <vt:lpstr>VLAN Router (R1)</vt:lpstr>
      <vt:lpstr>VLAN Router (R2)</vt:lpstr>
      <vt:lpstr>VLAN Router (R2)</vt:lpstr>
      <vt:lpstr>Körzet Routerek Topológiája</vt:lpstr>
      <vt:lpstr>Körzet Routerek (KR2)</vt:lpstr>
      <vt:lpstr>Körzet Routerek (KR1)</vt:lpstr>
      <vt:lpstr>VPN Közeg Topológiája</vt:lpstr>
      <vt:lpstr>VPN(R1) és VPN csatlakozás teszt</vt:lpstr>
      <vt:lpstr>WIFI Közeg Topológiája</vt:lpstr>
      <vt:lpstr>Wifi Közeg (WifiR1)</vt:lpstr>
      <vt:lpstr>Wifi Közeg (WR1)</vt:lpstr>
      <vt:lpstr>Wifi Közeg (WR1)</vt:lpstr>
      <vt:lpstr>Wifi Közeg (WR2)</vt:lpstr>
      <vt:lpstr>Wifi Közeg (WR2)</vt:lpstr>
      <vt:lpstr>Wifi Közeg (WR2)</vt:lpstr>
      <vt:lpstr>Tűzfal Közeg Topológiája</vt:lpstr>
      <vt:lpstr>Tűzfal Közeg (ASA)</vt:lpstr>
      <vt:lpstr>Tűzfal Közeg (ASA)</vt:lpstr>
      <vt:lpstr>Internet Közeg Topológiája</vt:lpstr>
      <vt:lpstr>Internet</vt:lpstr>
      <vt:lpstr>Internet Router (IR)</vt:lpstr>
      <vt:lpstr>Szerverek (HTTP1(Internet))</vt:lpstr>
      <vt:lpstr>Szerverek (HTTP2(Internet))</vt:lpstr>
      <vt:lpstr>Szerverek (HTTP3(Wifi))</vt:lpstr>
      <vt:lpstr>Szerverek (HTTP4(Tűzfal))</vt:lpstr>
      <vt:lpstr>Szerverek (Radius(Internet))</vt:lpstr>
      <vt:lpstr>Szerverek (DNS(Internet))</vt:lpstr>
      <vt:lpstr>Szerverek (DNS(Internet)) tesztek</vt:lpstr>
      <vt:lpstr>Szerverek (DNS(Internet)) tesztek</vt:lpstr>
      <vt:lpstr>Szerverek (DNS(Internet)) tesztek</vt:lpstr>
      <vt:lpstr>Linux DNS konfigurációja</vt:lpstr>
      <vt:lpstr>Linux IP konfiguráció</vt:lpstr>
      <vt:lpstr>Linux DNS konfiguráció</vt:lpstr>
      <vt:lpstr>Linux DNS teszt</vt:lpstr>
      <vt:lpstr>Windows szerver</vt:lpstr>
      <vt:lpstr>IP cím konfiguráció</vt:lpstr>
      <vt:lpstr>IIS Telepítés</vt:lpstr>
      <vt:lpstr>IIS konfigurálása</vt:lpstr>
      <vt:lpstr>IIS konfigurálása</vt:lpstr>
      <vt:lpstr>IIS konfigurálása és tesztje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Prezentáció</dc:title>
  <dc:creator>Csermák Viktor</dc:creator>
  <cp:lastModifiedBy>Csermák Viktor</cp:lastModifiedBy>
  <cp:revision>25</cp:revision>
  <dcterms:created xsi:type="dcterms:W3CDTF">2026-04-23T09:30:01Z</dcterms:created>
  <dcterms:modified xsi:type="dcterms:W3CDTF">2026-04-29T09:13:54Z</dcterms:modified>
</cp:coreProperties>
</file>